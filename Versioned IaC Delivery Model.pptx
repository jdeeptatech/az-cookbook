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session: agree on how infrastructure code is versioned, released and consumed by application teams. Ask for a decision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the IaC repo is a library with releases; app repos are consumers that pin a version, like a package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arrows: a normal app deployment. The app pipeline checks out its own repo plus the IaC repo at the pinned tag, so code and pipeline logic always come from the same release. Dashed arrow: IaC CI borrows the reference app's dev vars for a read-only smoke plan before tagging. Auth everywhere is workload identity federation, no stored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run on every PR. Step 5 runs only on main after all gates pass. The floating major tag lets consumers opt into non-breaking updates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 sits on the Azure DevOps environment, not in YAML, so app teams can't remove it. Apply uses the plan file produced in the plan stage, so what was reviewed is what gets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between the two repos is the variables file. Platform owns what is allowed; app teams own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reproducibility and reviewable upgrades; those are the two that change day-to-day work for app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biggest real cost is version sprawl and the discipline semver requires. The circular dependency between IaC CI and the app repo is the main design risk; the mocked test suite removes it as a hard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git-source option is the closest competitor. The deciding factor is that it versions only the Terraform, not the pipeline, auth and state conventions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agreement on point 1 in the room; the rest are platform team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3212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321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3212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321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2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4F8DEB"/>
          </a:solidFill>
          <a:ln/>
        </p:spPr>
      </p:sp>
      <p:sp>
        <p:nvSpPr>
          <p:cNvPr id="3" name="Text 1"/>
          <p:cNvSpPr/>
          <p:nvPr/>
        </p:nvSpPr>
        <p:spPr>
          <a:xfrm>
            <a:off x="812800" y="22733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DB4F2"/>
                </a:solidFill>
                <a:latin typeface="IBM Plex Sans" pitchFamily="34" charset="0"/>
                <a:ea typeface="IBM Plex Sans" pitchFamily="34" charset="-122"/>
                <a:cs typeface="IBM Plex Sans" pitchFamily="34" charset="-120"/>
              </a:rPr>
              <a:t>PLATFORM ENGINEERING · PROPOSAL</a:t>
            </a:r>
            <a:endParaRPr lang="en-US" sz="1200" dirty="0"/>
          </a:p>
        </p:txBody>
      </p:sp>
      <p:sp>
        <p:nvSpPr>
          <p:cNvPr id="4" name="Text 2"/>
          <p:cNvSpPr/>
          <p:nvPr>
            <p:ph type="title"/>
          </p:nvPr>
        </p:nvSpPr>
        <p:spPr>
          <a:xfrm>
            <a:off x="812800" y="274067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5F4EF"/>
                </a:solidFill>
                <a:latin typeface="IBM Plex Sans" pitchFamily="34" charset="0"/>
                <a:ea typeface="IBM Plex Sans" pitchFamily="34" charset="-122"/>
                <a:cs typeface="IBM Plex Sans" pitchFamily="34" charset="-120"/>
              </a:rPr>
              <a:t>Versioned IaC delivery</a:t>
            </a:r>
            <a:endParaRPr lang="en-US" sz="5600" dirty="0"/>
          </a:p>
        </p:txBody>
      </p:sp>
      <p:sp>
        <p:nvSpPr>
          <p:cNvPr id="5" name="Text 3"/>
          <p:cNvSpPr/>
          <p:nvPr/>
        </p:nvSpPr>
        <p:spPr>
          <a:xfrm>
            <a:off x="812800" y="3741390"/>
            <a:ext cx="78486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DD"/>
                </a:solidFill>
                <a:latin typeface="IBM Plex Sans" pitchFamily="34" charset="0"/>
                <a:ea typeface="IBM Plex Sans" pitchFamily="34" charset="-122"/>
                <a:cs typeface="IBM Plex Sans" pitchFamily="34" charset="-120"/>
              </a:rPr>
              <a:t>A Terraform module and its deploy pipeline, released together by tag and consumed by application repos.</a:t>
            </a:r>
            <a:endParaRPr lang="en-US" sz="18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6"/>
                </a:solidFill>
                <a:latin typeface="JetBrains Mono" pitchFamily="49" charset="0"/>
                <a:ea typeface="JetBrains Mono" pitchFamily="49" charset="-122"/>
                <a:cs typeface="JetBrains Mono" pitchFamily="49" charset="-120"/>
              </a:rPr>
              <a:t>Platform.Demo.IaC → v1.x.x → Platform.Demo.App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C9"/>
                </a:solidFill>
                <a:latin typeface="IBM Plex Sans" pitchFamily="34" charset="0"/>
                <a:ea typeface="IBM Plex Sans" pitchFamily="34" charset="-122"/>
                <a:cs typeface="IBM Plex Sans" pitchFamily="34" charset="-120"/>
              </a:rPr>
              <a:t>THE IDEA</a:t>
            </a:r>
            <a:endParaRPr lang="en-US" sz="1200" dirty="0"/>
          </a:p>
        </p:txBody>
      </p:sp>
      <p:sp>
        <p:nvSpPr>
          <p:cNvPr id="3" name="Text 1"/>
          <p:cNvSpPr/>
          <p:nvPr>
            <p:ph type="title"/>
          </p:nvPr>
        </p:nvSpPr>
        <p:spPr>
          <a:xfrm>
            <a:off x="812800" y="1178520"/>
            <a:ext cx="9810750"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12F"/>
                </a:solidFill>
                <a:latin typeface="IBM Plex Sans" pitchFamily="34" charset="0"/>
                <a:ea typeface="IBM Plex Sans" pitchFamily="34" charset="-122"/>
                <a:cs typeface="IBM Plex Sans" pitchFamily="34" charset="-120"/>
              </a:rPr>
              <a:t>Ship infrastructure like a library: versioned, tested, pinned.</a:t>
            </a:r>
            <a:endParaRPr lang="en-US" sz="3200" dirty="0"/>
          </a:p>
        </p:txBody>
      </p:sp>
      <p:sp>
        <p:nvSpPr>
          <p:cNvPr id="4" name="Shape 2"/>
          <p:cNvSpPr/>
          <p:nvPr/>
        </p:nvSpPr>
        <p:spPr>
          <a:xfrm>
            <a:off x="815975" y="4149229"/>
            <a:ext cx="3380284" cy="1892796"/>
          </a:xfrm>
          <a:prstGeom prst="roundRect">
            <a:avLst>
              <a:gd name="adj" fmla="val 5200"/>
            </a:avLst>
          </a:prstGeom>
          <a:solidFill>
            <a:srgbClr val="FCFCFA"/>
          </a:solidFill>
          <a:ln w="6350">
            <a:solidFill>
              <a:srgbClr val="D9DCD6"/>
            </a:solidFill>
            <a:prstDash val="solid"/>
          </a:ln>
        </p:spPr>
      </p:sp>
      <p:sp>
        <p:nvSpPr>
          <p:cNvPr id="5" name="Text 3"/>
          <p:cNvSpPr/>
          <p:nvPr/>
        </p:nvSpPr>
        <p:spPr>
          <a:xfrm>
            <a:off x="1073150" y="4406404"/>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JetBrains Mono" pitchFamily="49" charset="0"/>
                <a:ea typeface="JetBrains Mono" pitchFamily="49" charset="-122"/>
                <a:cs typeface="JetBrains Mono" pitchFamily="49" charset="-120"/>
              </a:rPr>
              <a:t>01 · IaC repo</a:t>
            </a:r>
            <a:endParaRPr lang="en-US" sz="1200" dirty="0"/>
          </a:p>
        </p:txBody>
      </p:sp>
      <p:sp>
        <p:nvSpPr>
          <p:cNvPr id="6" name="Text 4"/>
          <p:cNvSpPr/>
          <p:nvPr/>
        </p:nvSpPr>
        <p:spPr>
          <a:xfrm>
            <a:off x="1073150" y="4721324"/>
            <a:ext cx="295191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Publishes versions</a:t>
            </a:r>
            <a:endParaRPr lang="en-US" sz="1600" dirty="0"/>
          </a:p>
        </p:txBody>
      </p:sp>
      <p:sp>
        <p:nvSpPr>
          <p:cNvPr id="7" name="Text 5"/>
          <p:cNvSpPr/>
          <p:nvPr/>
        </p:nvSpPr>
        <p:spPr>
          <a:xfrm>
            <a:off x="1073150" y="5066754"/>
            <a:ext cx="2951912"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7"/>
                </a:solidFill>
                <a:latin typeface="IBM Plex Sans" pitchFamily="34" charset="0"/>
                <a:ea typeface="IBM Plex Sans" pitchFamily="34" charset="-122"/>
                <a:cs typeface="IBM Plex Sans" pitchFamily="34" charset="-120"/>
              </a:rPr>
              <a:t>Terraform module plus the deploy pipeline template. Every release is a semver tag.</a:t>
            </a:r>
            <a:endParaRPr lang="en-US" sz="1300" dirty="0"/>
          </a:p>
        </p:txBody>
      </p:sp>
      <p:sp>
        <p:nvSpPr>
          <p:cNvPr id="8" name="Shape 6"/>
          <p:cNvSpPr/>
          <p:nvPr/>
        </p:nvSpPr>
        <p:spPr>
          <a:xfrm>
            <a:off x="4405809" y="4149229"/>
            <a:ext cx="3380333" cy="1892796"/>
          </a:xfrm>
          <a:prstGeom prst="roundRect">
            <a:avLst>
              <a:gd name="adj" fmla="val 5200"/>
            </a:avLst>
          </a:prstGeom>
          <a:solidFill>
            <a:srgbClr val="FCFCFA"/>
          </a:solidFill>
          <a:ln w="6350">
            <a:solidFill>
              <a:srgbClr val="D9DCD6"/>
            </a:solidFill>
            <a:prstDash val="solid"/>
          </a:ln>
        </p:spPr>
      </p:sp>
      <p:sp>
        <p:nvSpPr>
          <p:cNvPr id="9" name="Text 7"/>
          <p:cNvSpPr/>
          <p:nvPr/>
        </p:nvSpPr>
        <p:spPr>
          <a:xfrm>
            <a:off x="4662984" y="4406404"/>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JetBrains Mono" pitchFamily="49" charset="0"/>
                <a:ea typeface="JetBrains Mono" pitchFamily="49" charset="-122"/>
                <a:cs typeface="JetBrains Mono" pitchFamily="49" charset="-120"/>
              </a:rPr>
              <a:t>02 · App repo</a:t>
            </a:r>
            <a:endParaRPr lang="en-US" sz="1200" dirty="0"/>
          </a:p>
        </p:txBody>
      </p:sp>
      <p:sp>
        <p:nvSpPr>
          <p:cNvPr id="10" name="Text 8"/>
          <p:cNvSpPr/>
          <p:nvPr/>
        </p:nvSpPr>
        <p:spPr>
          <a:xfrm>
            <a:off x="4662984" y="4721324"/>
            <a:ext cx="31199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Pins a version, supplies inputs</a:t>
            </a:r>
            <a:endParaRPr lang="en-US" sz="1600" dirty="0"/>
          </a:p>
        </p:txBody>
      </p:sp>
      <p:sp>
        <p:nvSpPr>
          <p:cNvPr id="11" name="Text 9"/>
          <p:cNvSpPr/>
          <p:nvPr/>
        </p:nvSpPr>
        <p:spPr>
          <a:xfrm>
            <a:off x="4662984" y="5066754"/>
            <a:ext cx="2951963"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7"/>
                </a:solidFill>
                <a:latin typeface="IBM Plex Sans" pitchFamily="34" charset="0"/>
                <a:ea typeface="IBM Plex Sans" pitchFamily="34" charset="-122"/>
                <a:cs typeface="IBM Plex Sans" pitchFamily="34" charset="-120"/>
              </a:rPr>
              <a:t>References the IaC tag in YAML and owns tfvars and backend config per environment.</a:t>
            </a:r>
            <a:endParaRPr lang="en-US" sz="1300" dirty="0"/>
          </a:p>
        </p:txBody>
      </p:sp>
      <p:sp>
        <p:nvSpPr>
          <p:cNvPr id="12" name="Shape 10"/>
          <p:cNvSpPr/>
          <p:nvPr/>
        </p:nvSpPr>
        <p:spPr>
          <a:xfrm>
            <a:off x="7995692" y="4149229"/>
            <a:ext cx="3380284" cy="1892796"/>
          </a:xfrm>
          <a:prstGeom prst="roundRect">
            <a:avLst>
              <a:gd name="adj" fmla="val 5200"/>
            </a:avLst>
          </a:prstGeom>
          <a:solidFill>
            <a:srgbClr val="FCFCFA"/>
          </a:solidFill>
          <a:ln w="6350">
            <a:solidFill>
              <a:srgbClr val="D9DCD6"/>
            </a:solidFill>
            <a:prstDash val="solid"/>
          </a:ln>
        </p:spPr>
      </p:sp>
      <p:sp>
        <p:nvSpPr>
          <p:cNvPr id="13" name="Text 11"/>
          <p:cNvSpPr/>
          <p:nvPr/>
        </p:nvSpPr>
        <p:spPr>
          <a:xfrm>
            <a:off x="8252867" y="4406404"/>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571A"/>
                </a:solidFill>
                <a:latin typeface="JetBrains Mono" pitchFamily="49" charset="0"/>
                <a:ea typeface="JetBrains Mono" pitchFamily="49" charset="-122"/>
                <a:cs typeface="JetBrains Mono" pitchFamily="49" charset="-120"/>
              </a:rPr>
              <a:t>03 · Pipeline</a:t>
            </a:r>
            <a:endParaRPr lang="en-US" sz="1200" dirty="0"/>
          </a:p>
        </p:txBody>
      </p:sp>
      <p:sp>
        <p:nvSpPr>
          <p:cNvPr id="14" name="Text 12"/>
          <p:cNvSpPr/>
          <p:nvPr/>
        </p:nvSpPr>
        <p:spPr>
          <a:xfrm>
            <a:off x="8252867" y="4721324"/>
            <a:ext cx="295191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One deploy path for all</a:t>
            </a:r>
            <a:endParaRPr lang="en-US" sz="1600" dirty="0"/>
          </a:p>
        </p:txBody>
      </p:sp>
      <p:sp>
        <p:nvSpPr>
          <p:cNvPr id="15" name="Text 13"/>
          <p:cNvSpPr/>
          <p:nvPr/>
        </p:nvSpPr>
        <p:spPr>
          <a:xfrm>
            <a:off x="8252867" y="5066754"/>
            <a:ext cx="2951912"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7"/>
                </a:solidFill>
                <a:latin typeface="IBM Plex Sans" pitchFamily="34" charset="0"/>
                <a:ea typeface="IBM Plex Sans" pitchFamily="34" charset="-122"/>
                <a:cs typeface="IBM Plex Sans" pitchFamily="34" charset="-120"/>
              </a:rPr>
              <a:t>The app pipeline extends the shared template: plan, approve, apply the saved plan.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12F"/>
                </a:solidFill>
                <a:latin typeface="IBM Plex Sans" pitchFamily="34" charset="0"/>
                <a:ea typeface="IBM Plex Sans" pitchFamily="34" charset="-122"/>
                <a:cs typeface="IBM Plex Sans" pitchFamily="34" charset="-120"/>
              </a:rPr>
              <a:t>Architecture</a:t>
            </a:r>
            <a:endParaRPr lang="en-US" sz="3200" dirty="0"/>
          </a:p>
        </p:txBody>
      </p:sp>
      <p:sp>
        <p:nvSpPr>
          <p:cNvPr id="3" name="Shape 1"/>
          <p:cNvSpPr/>
          <p:nvPr/>
        </p:nvSpPr>
        <p:spPr>
          <a:xfrm>
            <a:off x="819150" y="1784350"/>
            <a:ext cx="2781300" cy="1765300"/>
          </a:xfrm>
          <a:prstGeom prst="roundRect">
            <a:avLst>
              <a:gd name="adj" fmla="val 5396"/>
            </a:avLst>
          </a:prstGeom>
          <a:solidFill>
            <a:srgbClr val="FCFCFA"/>
          </a:solidFill>
          <a:ln w="12700">
            <a:solidFill>
              <a:srgbClr val="2563C9"/>
            </a:solidFill>
            <a:prstDash val="solid"/>
          </a:ln>
        </p:spPr>
      </p:sp>
      <p:sp>
        <p:nvSpPr>
          <p:cNvPr id="4" name="Text 2"/>
          <p:cNvSpPr/>
          <p:nvPr/>
        </p:nvSpPr>
        <p:spPr>
          <a:xfrm>
            <a:off x="1028700" y="19685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563C9"/>
                </a:solidFill>
                <a:latin typeface="IBM Plex Sans" pitchFamily="34" charset="0"/>
                <a:ea typeface="IBM Plex Sans" pitchFamily="34" charset="-122"/>
                <a:cs typeface="IBM Plex Sans" pitchFamily="34" charset="-120"/>
              </a:rPr>
              <a:t>IAC REPO · PLATFORM</a:t>
            </a:r>
            <a:endParaRPr lang="en-US" sz="1200" dirty="0"/>
          </a:p>
        </p:txBody>
      </p:sp>
      <p:sp>
        <p:nvSpPr>
          <p:cNvPr id="5" name="Text 3"/>
          <p:cNvSpPr/>
          <p:nvPr/>
        </p:nvSpPr>
        <p:spPr>
          <a:xfrm>
            <a:off x="1028700" y="2232620"/>
            <a:ext cx="243306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Platform.Demo.IaC</a:t>
            </a:r>
            <a:endParaRPr lang="en-US" sz="1600" dirty="0"/>
          </a:p>
        </p:txBody>
      </p:sp>
      <p:sp>
        <p:nvSpPr>
          <p:cNvPr id="6" name="Text 4"/>
          <p:cNvSpPr/>
          <p:nvPr/>
        </p:nvSpPr>
        <p:spPr>
          <a:xfrm>
            <a:off x="1028700" y="2527250"/>
            <a:ext cx="243306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JetBrains Mono" pitchFamily="49" charset="0"/>
                <a:ea typeface="JetBrains Mono" pitchFamily="49" charset="-122"/>
                <a:cs typeface="JetBrains Mono" pitchFamily="49" charset="-120"/>
              </a:rPr>
              <a:t>terraform/ module</a:t>
            </a:r>
            <a:endParaRPr lang="en-US" sz="1200" dirty="0"/>
          </a:p>
          <a:p>
            <a:pPr algn="l" indent="0" marL="0">
              <a:lnSpc>
                <a:spcPts val="1680"/>
              </a:lnSpc>
              <a:buNone/>
            </a:pPr>
            <a:r>
              <a:rPr lang="en-US" sz="1200" dirty="0">
                <a:solidFill>
                  <a:srgbClr val="3E4A57"/>
                </a:solidFill>
                <a:latin typeface="JetBrains Mono" pitchFamily="49" charset="0"/>
                <a:ea typeface="JetBrains Mono" pitchFamily="49" charset="-122"/>
                <a:cs typeface="JetBrains Mono" pitchFamily="49" charset="-120"/>
              </a:rPr>
              <a:t>terraform-deploy.yml</a:t>
            </a:r>
            <a:endParaRPr lang="en-US" sz="1200" dirty="0"/>
          </a:p>
          <a:p>
            <a:pPr algn="l" indent="0" marL="0">
              <a:lnSpc>
                <a:spcPts val="1680"/>
              </a:lnSpc>
              <a:buNone/>
            </a:pPr>
            <a:r>
              <a:rPr lang="en-US" sz="1200" dirty="0">
                <a:solidFill>
                  <a:srgbClr val="3E4A57"/>
                </a:solidFill>
                <a:latin typeface="JetBrains Mono" pitchFamily="49" charset="0"/>
                <a:ea typeface="JetBrains Mono" pitchFamily="49" charset="-122"/>
                <a:cs typeface="JetBrains Mono" pitchFamily="49" charset="-120"/>
              </a:rPr>
              <a:t>VERSION → tag v1.2.0</a:t>
            </a:r>
            <a:endParaRPr lang="en-US" sz="1200" dirty="0"/>
          </a:p>
        </p:txBody>
      </p:sp>
      <p:sp>
        <p:nvSpPr>
          <p:cNvPr id="7" name="Shape 5"/>
          <p:cNvSpPr/>
          <p:nvPr/>
        </p:nvSpPr>
        <p:spPr>
          <a:xfrm>
            <a:off x="819150" y="4070350"/>
            <a:ext cx="2781300" cy="1701800"/>
          </a:xfrm>
          <a:prstGeom prst="roundRect">
            <a:avLst>
              <a:gd name="adj" fmla="val 5597"/>
            </a:avLst>
          </a:prstGeom>
          <a:solidFill>
            <a:srgbClr val="FCFCFA"/>
          </a:solidFill>
          <a:ln w="12700">
            <a:solidFill>
              <a:srgbClr val="C2571A"/>
            </a:solidFill>
            <a:prstDash val="solid"/>
          </a:ln>
        </p:spPr>
      </p:sp>
      <p:sp>
        <p:nvSpPr>
          <p:cNvPr id="8" name="Text 6"/>
          <p:cNvSpPr/>
          <p:nvPr/>
        </p:nvSpPr>
        <p:spPr>
          <a:xfrm>
            <a:off x="1028700" y="42545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571A"/>
                </a:solidFill>
                <a:latin typeface="IBM Plex Sans" pitchFamily="34" charset="0"/>
                <a:ea typeface="IBM Plex Sans" pitchFamily="34" charset="-122"/>
                <a:cs typeface="IBM Plex Sans" pitchFamily="34" charset="-120"/>
              </a:rPr>
              <a:t>APP REPO · APP TEAM</a:t>
            </a:r>
            <a:endParaRPr lang="en-US" sz="1200" dirty="0"/>
          </a:p>
        </p:txBody>
      </p:sp>
      <p:sp>
        <p:nvSpPr>
          <p:cNvPr id="9" name="Text 7"/>
          <p:cNvSpPr/>
          <p:nvPr/>
        </p:nvSpPr>
        <p:spPr>
          <a:xfrm>
            <a:off x="1028700" y="4518620"/>
            <a:ext cx="243306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Platform.Demo.App</a:t>
            </a:r>
            <a:endParaRPr lang="en-US" sz="1600" dirty="0"/>
          </a:p>
        </p:txBody>
      </p:sp>
      <p:sp>
        <p:nvSpPr>
          <p:cNvPr id="10" name="Text 8"/>
          <p:cNvSpPr/>
          <p:nvPr/>
        </p:nvSpPr>
        <p:spPr>
          <a:xfrm>
            <a:off x="1028700" y="4813250"/>
            <a:ext cx="243306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JetBrains Mono" pitchFamily="49" charset="0"/>
                <a:ea typeface="JetBrains Mono" pitchFamily="49" charset="-122"/>
                <a:cs typeface="JetBrains Mono" pitchFamily="49" charset="-120"/>
              </a:rPr>
              <a:t>ref: tags/v1.2.0</a:t>
            </a:r>
            <a:endParaRPr lang="en-US" sz="1200" dirty="0"/>
          </a:p>
          <a:p>
            <a:pPr algn="l" indent="0" marL="0">
              <a:lnSpc>
                <a:spcPts val="1680"/>
              </a:lnSpc>
              <a:buNone/>
            </a:pPr>
            <a:r>
              <a:rPr lang="en-US" sz="1200" dirty="0">
                <a:solidFill>
                  <a:srgbClr val="3E4A57"/>
                </a:solidFill>
                <a:latin typeface="JetBrains Mono" pitchFamily="49" charset="0"/>
                <a:ea typeface="JetBrains Mono" pitchFamily="49" charset="-122"/>
                <a:cs typeface="JetBrains Mono" pitchFamily="49" charset="-120"/>
              </a:rPr>
              <a:t>infra/env/*.tfvars</a:t>
            </a:r>
            <a:endParaRPr lang="en-US" sz="1200" dirty="0"/>
          </a:p>
          <a:p>
            <a:pPr algn="l" indent="0" marL="0">
              <a:lnSpc>
                <a:spcPts val="1680"/>
              </a:lnSpc>
              <a:buNone/>
            </a:pPr>
            <a:r>
              <a:rPr lang="en-US" sz="1200" dirty="0">
                <a:solidFill>
                  <a:srgbClr val="3E4A57"/>
                </a:solidFill>
                <a:latin typeface="JetBrains Mono" pitchFamily="49" charset="0"/>
                <a:ea typeface="JetBrains Mono" pitchFamily="49" charset="-122"/>
                <a:cs typeface="JetBrains Mono" pitchFamily="49" charset="-120"/>
              </a:rPr>
              <a:t>infra/env/backend.hcl</a:t>
            </a:r>
            <a:endParaRPr lang="en-US" sz="1200" dirty="0"/>
          </a:p>
        </p:txBody>
      </p:sp>
      <p:sp>
        <p:nvSpPr>
          <p:cNvPr id="11" name="Shape 9"/>
          <p:cNvSpPr/>
          <p:nvPr/>
        </p:nvSpPr>
        <p:spPr>
          <a:xfrm>
            <a:off x="4826000" y="2413000"/>
            <a:ext cx="2540000" cy="2540000"/>
          </a:xfrm>
          <a:prstGeom prst="roundRect">
            <a:avLst>
              <a:gd name="adj" fmla="val 4000"/>
            </a:avLst>
          </a:prstGeom>
          <a:solidFill>
            <a:srgbClr val="13212F"/>
          </a:solidFill>
          <a:ln/>
        </p:spPr>
      </p:sp>
      <p:sp>
        <p:nvSpPr>
          <p:cNvPr id="12" name="Text 10"/>
          <p:cNvSpPr/>
          <p:nvPr/>
        </p:nvSpPr>
        <p:spPr>
          <a:xfrm>
            <a:off x="5029200" y="2616200"/>
            <a:ext cx="21976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2"/>
                </a:solidFill>
                <a:latin typeface="IBM Plex Sans" pitchFamily="34" charset="0"/>
                <a:ea typeface="IBM Plex Sans" pitchFamily="34" charset="-122"/>
                <a:cs typeface="IBM Plex Sans" pitchFamily="34" charset="-120"/>
              </a:rPr>
              <a:t>AZURE DEVOPS RUN</a:t>
            </a:r>
            <a:endParaRPr lang="en-US" sz="1200" dirty="0"/>
          </a:p>
        </p:txBody>
      </p:sp>
      <p:sp>
        <p:nvSpPr>
          <p:cNvPr id="13" name="Text 11"/>
          <p:cNvSpPr/>
          <p:nvPr/>
        </p:nvSpPr>
        <p:spPr>
          <a:xfrm>
            <a:off x="5029200" y="2905720"/>
            <a:ext cx="21976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One pipeline run</a:t>
            </a:r>
            <a:endParaRPr lang="en-US" sz="1600" dirty="0"/>
          </a:p>
        </p:txBody>
      </p:sp>
      <p:sp>
        <p:nvSpPr>
          <p:cNvPr id="14" name="Text 12"/>
          <p:cNvSpPr/>
          <p:nvPr/>
        </p:nvSpPr>
        <p:spPr>
          <a:xfrm>
            <a:off x="5029200" y="3225750"/>
            <a:ext cx="2197608" cy="100072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C9D3DD"/>
                </a:solidFill>
                <a:latin typeface="IBM Plex Sans" pitchFamily="34" charset="0"/>
                <a:ea typeface="IBM Plex Sans" pitchFamily="34" charset="-122"/>
                <a:cs typeface="IBM Plex Sans" pitchFamily="34" charset="-120"/>
              </a:rPr>
              <a:t>checkout self + iac@tag</a:t>
            </a:r>
            <a:endParaRPr lang="en-US" sz="1200" dirty="0"/>
          </a:p>
          <a:p>
            <a:pPr algn="l" indent="0" marL="0">
              <a:lnSpc>
                <a:spcPts val="1920"/>
              </a:lnSpc>
              <a:buNone/>
            </a:pPr>
            <a:r>
              <a:rPr lang="en-US" sz="1200" dirty="0">
                <a:solidFill>
                  <a:srgbClr val="C9D3DD"/>
                </a:solidFill>
                <a:latin typeface="IBM Plex Sans" pitchFamily="34" charset="0"/>
                <a:ea typeface="IBM Plex Sans" pitchFamily="34" charset="-122"/>
                <a:cs typeface="IBM Plex Sans" pitchFamily="34" charset="-120"/>
              </a:rPr>
              <a:t>init → plan (saved)</a:t>
            </a:r>
            <a:endParaRPr lang="en-US" sz="1200" dirty="0"/>
          </a:p>
          <a:p>
            <a:pPr algn="l" indent="0" marL="0">
              <a:lnSpc>
                <a:spcPts val="1920"/>
              </a:lnSpc>
              <a:buNone/>
            </a:pPr>
            <a:r>
              <a:rPr lang="en-US" sz="1200" dirty="0">
                <a:solidFill>
                  <a:srgbClr val="C9D3DD"/>
                </a:solidFill>
                <a:latin typeface="IBM Plex Sans" pitchFamily="34" charset="0"/>
                <a:ea typeface="IBM Plex Sans" pitchFamily="34" charset="-122"/>
                <a:cs typeface="IBM Plex Sans" pitchFamily="34" charset="-120"/>
              </a:rPr>
              <a:t>approval gate (prod)</a:t>
            </a:r>
            <a:endParaRPr lang="en-US" sz="1200" dirty="0"/>
          </a:p>
          <a:p>
            <a:pPr algn="l" indent="0" marL="0">
              <a:lnSpc>
                <a:spcPts val="1920"/>
              </a:lnSpc>
              <a:buNone/>
            </a:pPr>
            <a:r>
              <a:rPr lang="en-US" sz="1200" dirty="0">
                <a:solidFill>
                  <a:srgbClr val="C9D3DD"/>
                </a:solidFill>
                <a:latin typeface="IBM Plex Sans" pitchFamily="34" charset="0"/>
                <a:ea typeface="IBM Plex Sans" pitchFamily="34" charset="-122"/>
                <a:cs typeface="IBM Plex Sans" pitchFamily="34" charset="-120"/>
              </a:rPr>
              <a:t>apply the saved plan</a:t>
            </a:r>
            <a:endParaRPr lang="en-US" sz="1200" dirty="0"/>
          </a:p>
        </p:txBody>
      </p:sp>
      <p:sp>
        <p:nvSpPr>
          <p:cNvPr id="15" name="Shape 13"/>
          <p:cNvSpPr/>
          <p:nvPr/>
        </p:nvSpPr>
        <p:spPr>
          <a:xfrm>
            <a:off x="8588375" y="1781175"/>
            <a:ext cx="2787650" cy="1644650"/>
          </a:xfrm>
          <a:prstGeom prst="roundRect">
            <a:avLst>
              <a:gd name="adj" fmla="val 5985"/>
            </a:avLst>
          </a:prstGeom>
          <a:solidFill>
            <a:srgbClr val="FCFCFA"/>
          </a:solidFill>
          <a:ln w="6350">
            <a:solidFill>
              <a:srgbClr val="9AA4AE"/>
            </a:solidFill>
            <a:prstDash val="solid"/>
          </a:ln>
        </p:spPr>
      </p:sp>
      <p:sp>
        <p:nvSpPr>
          <p:cNvPr id="16" name="Text 14"/>
          <p:cNvSpPr/>
          <p:nvPr/>
        </p:nvSpPr>
        <p:spPr>
          <a:xfrm>
            <a:off x="8794750" y="1962150"/>
            <a:ext cx="24461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673"/>
                </a:solidFill>
                <a:latin typeface="IBM Plex Sans" pitchFamily="34" charset="0"/>
                <a:ea typeface="IBM Plex Sans" pitchFamily="34" charset="-122"/>
                <a:cs typeface="IBM Plex Sans" pitchFamily="34" charset="-120"/>
              </a:rPr>
              <a:t>AZURE STORAGE</a:t>
            </a:r>
            <a:endParaRPr lang="en-US" sz="1200" dirty="0"/>
          </a:p>
        </p:txBody>
      </p:sp>
      <p:sp>
        <p:nvSpPr>
          <p:cNvPr id="17" name="Text 15"/>
          <p:cNvSpPr/>
          <p:nvPr/>
        </p:nvSpPr>
        <p:spPr>
          <a:xfrm>
            <a:off x="8794750" y="2226270"/>
            <a:ext cx="244614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Remote state</a:t>
            </a:r>
            <a:endParaRPr lang="en-US" sz="1600" dirty="0"/>
          </a:p>
        </p:txBody>
      </p:sp>
      <p:sp>
        <p:nvSpPr>
          <p:cNvPr id="18" name="Text 16"/>
          <p:cNvSpPr/>
          <p:nvPr/>
        </p:nvSpPr>
        <p:spPr>
          <a:xfrm>
            <a:off x="8794750" y="2520900"/>
            <a:ext cx="244614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One key per app per env</a:t>
            </a:r>
            <a:endParaRPr lang="en-US" sz="1200" dirty="0"/>
          </a:p>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Blob lease = state lock</a:t>
            </a:r>
            <a:endParaRPr lang="en-US" sz="1200" dirty="0"/>
          </a:p>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Entra ID auth, no keys</a:t>
            </a:r>
            <a:endParaRPr lang="en-US" sz="1200" dirty="0"/>
          </a:p>
        </p:txBody>
      </p:sp>
      <p:sp>
        <p:nvSpPr>
          <p:cNvPr id="19" name="Shape 17"/>
          <p:cNvSpPr/>
          <p:nvPr/>
        </p:nvSpPr>
        <p:spPr>
          <a:xfrm>
            <a:off x="8588375" y="3813175"/>
            <a:ext cx="2787650" cy="1962150"/>
          </a:xfrm>
          <a:prstGeom prst="roundRect">
            <a:avLst>
              <a:gd name="adj" fmla="val 5016"/>
            </a:avLst>
          </a:prstGeom>
          <a:solidFill>
            <a:srgbClr val="FCFCFA"/>
          </a:solidFill>
          <a:ln w="6350">
            <a:solidFill>
              <a:srgbClr val="9AA4AE"/>
            </a:solidFill>
            <a:prstDash val="solid"/>
          </a:ln>
        </p:spPr>
      </p:sp>
      <p:sp>
        <p:nvSpPr>
          <p:cNvPr id="20" name="Text 18"/>
          <p:cNvSpPr/>
          <p:nvPr/>
        </p:nvSpPr>
        <p:spPr>
          <a:xfrm>
            <a:off x="8794750" y="3994150"/>
            <a:ext cx="24461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673"/>
                </a:solidFill>
                <a:latin typeface="IBM Plex Sans" pitchFamily="34" charset="0"/>
                <a:ea typeface="IBM Plex Sans" pitchFamily="34" charset="-122"/>
                <a:cs typeface="IBM Plex Sans" pitchFamily="34" charset="-120"/>
              </a:rPr>
              <a:t>AZURE SUBSCRIPTION</a:t>
            </a:r>
            <a:endParaRPr lang="en-US" sz="1200" dirty="0"/>
          </a:p>
        </p:txBody>
      </p:sp>
      <p:sp>
        <p:nvSpPr>
          <p:cNvPr id="21" name="Text 19"/>
          <p:cNvSpPr/>
          <p:nvPr/>
        </p:nvSpPr>
        <p:spPr>
          <a:xfrm>
            <a:off x="8794750" y="4258270"/>
            <a:ext cx="244614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Environment</a:t>
            </a:r>
            <a:endParaRPr lang="en-US" sz="1600" dirty="0"/>
          </a:p>
        </p:txBody>
      </p:sp>
      <p:sp>
        <p:nvSpPr>
          <p:cNvPr id="22" name="Text 20"/>
          <p:cNvSpPr/>
          <p:nvPr/>
        </p:nvSpPr>
        <p:spPr>
          <a:xfrm>
            <a:off x="8794750" y="4552900"/>
            <a:ext cx="244614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Resource group per env</a:t>
            </a:r>
            <a:endParaRPr lang="en-US" sz="1200" dirty="0"/>
          </a:p>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Mandatory tags enforced</a:t>
            </a:r>
            <a:endParaRPr lang="en-US" sz="1200" dirty="0"/>
          </a:p>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Separate sub per env</a:t>
            </a:r>
            <a:endParaRPr lang="en-US" sz="1200" dirty="0"/>
          </a:p>
        </p:txBody>
      </p:sp>
      <p:pic>
        <p:nvPicPr>
          <p:cNvPr id="23" name="Image 0" descr="connector">    </p:cNvPr>
          <p:cNvPicPr>
            <a:picLocks noChangeAspect="1"/>
          </p:cNvPicPr>
          <p:nvPr/>
        </p:nvPicPr>
        <p:blipFill>
          <a:blip r:embed="rId1"/>
          <a:srcRect l="0" r="0" t="0" b="0"/>
          <a:stretch/>
        </p:blipFill>
        <p:spPr>
          <a:xfrm>
            <a:off x="3556000" y="2870200"/>
            <a:ext cx="1320800" cy="101600"/>
          </a:xfrm>
          <a:prstGeom prst="rect">
            <a:avLst/>
          </a:prstGeom>
        </p:spPr>
      </p:pic>
      <p:sp>
        <p:nvSpPr>
          <p:cNvPr id="24" name="Text 21"/>
          <p:cNvSpPr/>
          <p:nvPr/>
        </p:nvSpPr>
        <p:spPr>
          <a:xfrm>
            <a:off x="3708400" y="2565400"/>
            <a:ext cx="11176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563C9"/>
                </a:solidFill>
                <a:latin typeface="IBM Plex Sans" pitchFamily="34" charset="0"/>
                <a:ea typeface="IBM Plex Sans" pitchFamily="34" charset="-122"/>
                <a:cs typeface="IBM Plex Sans" pitchFamily="34" charset="-120"/>
              </a:rPr>
              <a:t>code @ tag</a:t>
            </a:r>
            <a:endParaRPr lang="en-US" sz="1200" dirty="0"/>
          </a:p>
        </p:txBody>
      </p:sp>
      <p:pic>
        <p:nvPicPr>
          <p:cNvPr id="25" name="Image 1" descr="connector">    </p:cNvPr>
          <p:cNvPicPr>
            <a:picLocks noChangeAspect="1"/>
          </p:cNvPicPr>
          <p:nvPr/>
        </p:nvPicPr>
        <p:blipFill>
          <a:blip r:embed="rId2"/>
          <a:srcRect l="0" r="0" t="0" b="0"/>
          <a:stretch/>
        </p:blipFill>
        <p:spPr>
          <a:xfrm>
            <a:off x="3556000" y="4521200"/>
            <a:ext cx="1320800" cy="101600"/>
          </a:xfrm>
          <a:prstGeom prst="rect">
            <a:avLst/>
          </a:prstGeom>
        </p:spPr>
      </p:pic>
      <p:sp>
        <p:nvSpPr>
          <p:cNvPr id="26" name="Text 22"/>
          <p:cNvSpPr/>
          <p:nvPr/>
        </p:nvSpPr>
        <p:spPr>
          <a:xfrm>
            <a:off x="3708400" y="4216400"/>
            <a:ext cx="11176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C2571A"/>
                </a:solidFill>
                <a:latin typeface="IBM Plex Sans" pitchFamily="34" charset="0"/>
                <a:ea typeface="IBM Plex Sans" pitchFamily="34" charset="-122"/>
                <a:cs typeface="IBM Plex Sans" pitchFamily="34" charset="-120"/>
              </a:rPr>
              <a:t>env vars</a:t>
            </a:r>
            <a:endParaRPr lang="en-US" sz="1200" dirty="0"/>
          </a:p>
        </p:txBody>
      </p:sp>
      <p:pic>
        <p:nvPicPr>
          <p:cNvPr id="27" name="Image 2" descr="connector">    </p:cNvPr>
          <p:cNvPicPr>
            <a:picLocks noChangeAspect="1"/>
          </p:cNvPicPr>
          <p:nvPr/>
        </p:nvPicPr>
        <p:blipFill>
          <a:blip r:embed="rId3"/>
          <a:srcRect l="0" r="0" t="0" b="0"/>
          <a:stretch/>
        </p:blipFill>
        <p:spPr>
          <a:xfrm>
            <a:off x="7315200" y="2870200"/>
            <a:ext cx="1320800" cy="101600"/>
          </a:xfrm>
          <a:prstGeom prst="rect">
            <a:avLst/>
          </a:prstGeom>
        </p:spPr>
      </p:pic>
      <p:sp>
        <p:nvSpPr>
          <p:cNvPr id="28" name="Text 23"/>
          <p:cNvSpPr/>
          <p:nvPr/>
        </p:nvSpPr>
        <p:spPr>
          <a:xfrm>
            <a:off x="7467600" y="2565400"/>
            <a:ext cx="11176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3E4A57"/>
                </a:solidFill>
                <a:latin typeface="IBM Plex Sans" pitchFamily="34" charset="0"/>
                <a:ea typeface="IBM Plex Sans" pitchFamily="34" charset="-122"/>
                <a:cs typeface="IBM Plex Sans" pitchFamily="34" charset="-120"/>
              </a:rPr>
              <a:t>state + lock</a:t>
            </a:r>
            <a:endParaRPr lang="en-US" sz="1200" dirty="0"/>
          </a:p>
        </p:txBody>
      </p:sp>
      <p:pic>
        <p:nvPicPr>
          <p:cNvPr id="29" name="Image 3" descr="connector">    </p:cNvPr>
          <p:cNvPicPr>
            <a:picLocks noChangeAspect="1"/>
          </p:cNvPicPr>
          <p:nvPr/>
        </p:nvPicPr>
        <p:blipFill>
          <a:blip r:embed="rId4"/>
          <a:srcRect l="0" r="0" t="0" b="0"/>
          <a:stretch/>
        </p:blipFill>
        <p:spPr>
          <a:xfrm>
            <a:off x="7315200" y="4394200"/>
            <a:ext cx="1320800" cy="101600"/>
          </a:xfrm>
          <a:prstGeom prst="rect">
            <a:avLst/>
          </a:prstGeom>
        </p:spPr>
      </p:pic>
      <p:sp>
        <p:nvSpPr>
          <p:cNvPr id="30" name="Text 24"/>
          <p:cNvSpPr/>
          <p:nvPr/>
        </p:nvSpPr>
        <p:spPr>
          <a:xfrm>
            <a:off x="7467600" y="4089400"/>
            <a:ext cx="11176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3E4A57"/>
                </a:solidFill>
                <a:latin typeface="IBM Plex Sans" pitchFamily="34" charset="0"/>
                <a:ea typeface="IBM Plex Sans" pitchFamily="34" charset="-122"/>
                <a:cs typeface="IBM Plex Sans" pitchFamily="34" charset="-120"/>
              </a:rPr>
              <a:t>apply (OIDC)</a:t>
            </a:r>
            <a:endParaRPr lang="en-US" sz="1200" dirty="0"/>
          </a:p>
        </p:txBody>
      </p:sp>
      <p:pic>
        <p:nvPicPr>
          <p:cNvPr id="31" name="Image 4" descr="connector">    </p:cNvPr>
          <p:cNvPicPr>
            <a:picLocks noChangeAspect="1"/>
          </p:cNvPicPr>
          <p:nvPr/>
        </p:nvPicPr>
        <p:blipFill>
          <a:blip r:embed="rId5"/>
          <a:srcRect l="0" r="0" t="0" b="0"/>
          <a:stretch/>
        </p:blipFill>
        <p:spPr>
          <a:xfrm>
            <a:off x="2159000" y="3505200"/>
            <a:ext cx="101600" cy="609600"/>
          </a:xfrm>
          <a:prstGeom prst="rect">
            <a:avLst/>
          </a:prstGeom>
        </p:spPr>
      </p:pic>
      <p:sp>
        <p:nvSpPr>
          <p:cNvPr id="32" name="Text 25"/>
          <p:cNvSpPr/>
          <p:nvPr/>
        </p:nvSpPr>
        <p:spPr>
          <a:xfrm>
            <a:off x="2336800" y="3708400"/>
            <a:ext cx="13208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C2571A"/>
                </a:solidFill>
                <a:latin typeface="IBM Plex Sans" pitchFamily="34" charset="0"/>
                <a:ea typeface="IBM Plex Sans" pitchFamily="34" charset="-122"/>
                <a:cs typeface="IBM Plex Sans" pitchFamily="34" charset="-120"/>
              </a:rPr>
              <a:t>smoke plan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12F"/>
                </a:solidFill>
                <a:latin typeface="IBM Plex Sans" pitchFamily="34" charset="0"/>
                <a:ea typeface="IBM Plex Sans" pitchFamily="34" charset="-122"/>
                <a:cs typeface="IBM Plex Sans" pitchFamily="34" charset="-120"/>
              </a:rPr>
              <a:t>IaC release flow</a:t>
            </a:r>
            <a:endParaRPr lang="en-US" sz="3200" dirty="0"/>
          </a:p>
        </p:txBody>
      </p:sp>
      <p:sp>
        <p:nvSpPr>
          <p:cNvPr id="3" name="Text 1"/>
          <p:cNvSpPr/>
          <p:nvPr/>
        </p:nvSpPr>
        <p:spPr>
          <a:xfrm>
            <a:off x="812800" y="13817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7"/>
                </a:solidFill>
                <a:latin typeface="IBM Plex Sans" pitchFamily="34" charset="0"/>
                <a:ea typeface="IBM Plex Sans" pitchFamily="34" charset="-122"/>
                <a:cs typeface="IBM Plex Sans" pitchFamily="34" charset="-120"/>
              </a:rPr>
              <a:t>How the IaC repo produces a version. A tag exists only if every gate passed on main.</a:t>
            </a:r>
            <a:endParaRPr lang="en-US" sz="1400" dirty="0"/>
          </a:p>
        </p:txBody>
      </p:sp>
      <p:sp>
        <p:nvSpPr>
          <p:cNvPr id="4" name="Shape 2"/>
          <p:cNvSpPr/>
          <p:nvPr/>
        </p:nvSpPr>
        <p:spPr>
          <a:xfrm>
            <a:off x="815975" y="2693095"/>
            <a:ext cx="1764010" cy="1611461"/>
          </a:xfrm>
          <a:prstGeom prst="roundRect">
            <a:avLst>
              <a:gd name="adj" fmla="val 6108"/>
            </a:avLst>
          </a:prstGeom>
          <a:solidFill>
            <a:srgbClr val="FCFCFA"/>
          </a:solidFill>
          <a:ln w="6350">
            <a:solidFill>
              <a:srgbClr val="D9DCD6"/>
            </a:solidFill>
            <a:prstDash val="solid"/>
          </a:ln>
        </p:spPr>
      </p:sp>
      <p:sp>
        <p:nvSpPr>
          <p:cNvPr id="5" name="Text 3"/>
          <p:cNvSpPr/>
          <p:nvPr/>
        </p:nvSpPr>
        <p:spPr>
          <a:xfrm>
            <a:off x="996950" y="2874070"/>
            <a:ext cx="14528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96950" y="3163590"/>
            <a:ext cx="14528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Open PR</a:t>
            </a:r>
            <a:endParaRPr lang="en-US" sz="1600" dirty="0"/>
          </a:p>
        </p:txBody>
      </p:sp>
      <p:sp>
        <p:nvSpPr>
          <p:cNvPr id="7" name="Text 5"/>
          <p:cNvSpPr/>
          <p:nvPr/>
        </p:nvSpPr>
        <p:spPr>
          <a:xfrm>
            <a:off x="996950" y="3483620"/>
            <a:ext cx="14528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Change the module and bump VERSION</a:t>
            </a:r>
            <a:endParaRPr lang="en-US" sz="1200" dirty="0"/>
          </a:p>
        </p:txBody>
      </p:sp>
      <p:pic>
        <p:nvPicPr>
          <p:cNvPr id="8" name="Image 0" descr="arrow-right">    </p:cNvPr>
          <p:cNvPicPr>
            <a:picLocks noChangeAspect="1"/>
          </p:cNvPicPr>
          <p:nvPr/>
        </p:nvPicPr>
        <p:blipFill>
          <a:blip r:embed="rId1"/>
          <a:srcRect l="0" r="0" t="0" b="0"/>
          <a:stretch/>
        </p:blipFill>
        <p:spPr>
          <a:xfrm>
            <a:off x="2684760" y="3422600"/>
            <a:ext cx="228600" cy="152400"/>
          </a:xfrm>
          <a:prstGeom prst="rect">
            <a:avLst/>
          </a:prstGeom>
        </p:spPr>
      </p:pic>
      <p:sp>
        <p:nvSpPr>
          <p:cNvPr id="9" name="Shape 6"/>
          <p:cNvSpPr/>
          <p:nvPr/>
        </p:nvSpPr>
        <p:spPr>
          <a:xfrm>
            <a:off x="3018135" y="2693095"/>
            <a:ext cx="1764060" cy="1611461"/>
          </a:xfrm>
          <a:prstGeom prst="roundRect">
            <a:avLst>
              <a:gd name="adj" fmla="val 6108"/>
            </a:avLst>
          </a:prstGeom>
          <a:solidFill>
            <a:srgbClr val="FCFCFA"/>
          </a:solidFill>
          <a:ln w="6350">
            <a:solidFill>
              <a:srgbClr val="D9DCD6"/>
            </a:solidFill>
            <a:prstDash val="solid"/>
          </a:ln>
        </p:spPr>
      </p:sp>
      <p:sp>
        <p:nvSpPr>
          <p:cNvPr id="10" name="Text 7"/>
          <p:cNvSpPr/>
          <p:nvPr/>
        </p:nvSpPr>
        <p:spPr>
          <a:xfrm>
            <a:off x="3199110" y="2874070"/>
            <a:ext cx="14529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JetBrains Mono" pitchFamily="49" charset="0"/>
                <a:ea typeface="JetBrains Mono" pitchFamily="49" charset="-122"/>
                <a:cs typeface="JetBrains Mono" pitchFamily="49" charset="-120"/>
              </a:rPr>
              <a:t>02</a:t>
            </a:r>
            <a:endParaRPr lang="en-US" sz="1200" dirty="0"/>
          </a:p>
        </p:txBody>
      </p:sp>
      <p:sp>
        <p:nvSpPr>
          <p:cNvPr id="11" name="Text 8"/>
          <p:cNvSpPr/>
          <p:nvPr/>
        </p:nvSpPr>
        <p:spPr>
          <a:xfrm>
            <a:off x="3199110" y="3163590"/>
            <a:ext cx="14529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Static gates</a:t>
            </a:r>
            <a:endParaRPr lang="en-US" sz="1600" dirty="0"/>
          </a:p>
        </p:txBody>
      </p:sp>
      <p:sp>
        <p:nvSpPr>
          <p:cNvPr id="12" name="Text 9"/>
          <p:cNvSpPr/>
          <p:nvPr/>
        </p:nvSpPr>
        <p:spPr>
          <a:xfrm>
            <a:off x="3199110" y="3483620"/>
            <a:ext cx="14529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fmt, validate, terraform test with mocked providers</a:t>
            </a:r>
            <a:endParaRPr lang="en-US" sz="1200" dirty="0"/>
          </a:p>
        </p:txBody>
      </p:sp>
      <p:pic>
        <p:nvPicPr>
          <p:cNvPr id="13" name="Image 1" descr="arrow-right">    </p:cNvPr>
          <p:cNvPicPr>
            <a:picLocks noChangeAspect="1"/>
          </p:cNvPicPr>
          <p:nvPr/>
        </p:nvPicPr>
        <p:blipFill>
          <a:blip r:embed="rId2"/>
          <a:srcRect l="0" r="0" t="0" b="0"/>
          <a:stretch/>
        </p:blipFill>
        <p:spPr>
          <a:xfrm>
            <a:off x="4886970" y="3422600"/>
            <a:ext cx="228600" cy="152400"/>
          </a:xfrm>
          <a:prstGeom prst="rect">
            <a:avLst/>
          </a:prstGeom>
        </p:spPr>
      </p:pic>
      <p:sp>
        <p:nvSpPr>
          <p:cNvPr id="14" name="Shape 10"/>
          <p:cNvSpPr/>
          <p:nvPr/>
        </p:nvSpPr>
        <p:spPr>
          <a:xfrm>
            <a:off x="5220345" y="2693095"/>
            <a:ext cx="1764010" cy="1611461"/>
          </a:xfrm>
          <a:prstGeom prst="roundRect">
            <a:avLst>
              <a:gd name="adj" fmla="val 6108"/>
            </a:avLst>
          </a:prstGeom>
          <a:solidFill>
            <a:srgbClr val="FCFCFA"/>
          </a:solidFill>
          <a:ln w="6350">
            <a:solidFill>
              <a:srgbClr val="D9DCD6"/>
            </a:solidFill>
            <a:prstDash val="solid"/>
          </a:ln>
        </p:spPr>
      </p:sp>
      <p:sp>
        <p:nvSpPr>
          <p:cNvPr id="15" name="Text 11"/>
          <p:cNvSpPr/>
          <p:nvPr/>
        </p:nvSpPr>
        <p:spPr>
          <a:xfrm>
            <a:off x="5401320" y="2874070"/>
            <a:ext cx="14528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JetBrains Mono" pitchFamily="49" charset="0"/>
                <a:ea typeface="JetBrains Mono" pitchFamily="49" charset="-122"/>
                <a:cs typeface="JetBrains Mono" pitchFamily="49" charset="-120"/>
              </a:rPr>
              <a:t>03</a:t>
            </a:r>
            <a:endParaRPr lang="en-US" sz="1200" dirty="0"/>
          </a:p>
        </p:txBody>
      </p:sp>
      <p:sp>
        <p:nvSpPr>
          <p:cNvPr id="16" name="Text 12"/>
          <p:cNvSpPr/>
          <p:nvPr/>
        </p:nvSpPr>
        <p:spPr>
          <a:xfrm>
            <a:off x="5401320" y="3163590"/>
            <a:ext cx="14528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Smoke plan</a:t>
            </a:r>
            <a:endParaRPr lang="en-US" sz="1600" dirty="0"/>
          </a:p>
        </p:txBody>
      </p:sp>
      <p:sp>
        <p:nvSpPr>
          <p:cNvPr id="17" name="Text 13"/>
          <p:cNvSpPr/>
          <p:nvPr/>
        </p:nvSpPr>
        <p:spPr>
          <a:xfrm>
            <a:off x="5401320" y="3483620"/>
            <a:ext cx="14528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Read-only plan with the reference app's dev vars</a:t>
            </a:r>
            <a:endParaRPr lang="en-US" sz="1200" dirty="0"/>
          </a:p>
        </p:txBody>
      </p:sp>
      <p:pic>
        <p:nvPicPr>
          <p:cNvPr id="18" name="Image 2" descr="arrow-right">    </p:cNvPr>
          <p:cNvPicPr>
            <a:picLocks noChangeAspect="1"/>
          </p:cNvPicPr>
          <p:nvPr/>
        </p:nvPicPr>
        <p:blipFill>
          <a:blip r:embed="rId3"/>
          <a:srcRect l="0" r="0" t="0" b="0"/>
          <a:stretch/>
        </p:blipFill>
        <p:spPr>
          <a:xfrm>
            <a:off x="7089130" y="3422600"/>
            <a:ext cx="228600" cy="152400"/>
          </a:xfrm>
          <a:prstGeom prst="rect">
            <a:avLst/>
          </a:prstGeom>
        </p:spPr>
      </p:pic>
      <p:sp>
        <p:nvSpPr>
          <p:cNvPr id="19" name="Shape 14"/>
          <p:cNvSpPr/>
          <p:nvPr/>
        </p:nvSpPr>
        <p:spPr>
          <a:xfrm>
            <a:off x="7422505" y="2693095"/>
            <a:ext cx="1764060" cy="1611461"/>
          </a:xfrm>
          <a:prstGeom prst="roundRect">
            <a:avLst>
              <a:gd name="adj" fmla="val 6108"/>
            </a:avLst>
          </a:prstGeom>
          <a:solidFill>
            <a:srgbClr val="FCFCFA"/>
          </a:solidFill>
          <a:ln w="6350">
            <a:solidFill>
              <a:srgbClr val="D9DCD6"/>
            </a:solidFill>
            <a:prstDash val="solid"/>
          </a:ln>
        </p:spPr>
      </p:sp>
      <p:sp>
        <p:nvSpPr>
          <p:cNvPr id="20" name="Text 15"/>
          <p:cNvSpPr/>
          <p:nvPr/>
        </p:nvSpPr>
        <p:spPr>
          <a:xfrm>
            <a:off x="7603480" y="2874070"/>
            <a:ext cx="14529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C9"/>
                </a:solidFill>
                <a:latin typeface="JetBrains Mono" pitchFamily="49" charset="0"/>
                <a:ea typeface="JetBrains Mono" pitchFamily="49" charset="-122"/>
                <a:cs typeface="JetBrains Mono" pitchFamily="49" charset="-120"/>
              </a:rPr>
              <a:t>04</a:t>
            </a:r>
            <a:endParaRPr lang="en-US" sz="1200" dirty="0"/>
          </a:p>
        </p:txBody>
      </p:sp>
      <p:sp>
        <p:nvSpPr>
          <p:cNvPr id="21" name="Text 16"/>
          <p:cNvSpPr/>
          <p:nvPr/>
        </p:nvSpPr>
        <p:spPr>
          <a:xfrm>
            <a:off x="7603480" y="3163590"/>
            <a:ext cx="14529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Merge</a:t>
            </a:r>
            <a:endParaRPr lang="en-US" sz="1600" dirty="0"/>
          </a:p>
        </p:txBody>
      </p:sp>
      <p:sp>
        <p:nvSpPr>
          <p:cNvPr id="22" name="Text 17"/>
          <p:cNvSpPr/>
          <p:nvPr/>
        </p:nvSpPr>
        <p:spPr>
          <a:xfrm>
            <a:off x="7603480" y="3483620"/>
            <a:ext cx="14529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Review and branch policy on main</a:t>
            </a:r>
            <a:endParaRPr lang="en-US" sz="1200" dirty="0"/>
          </a:p>
        </p:txBody>
      </p:sp>
      <p:pic>
        <p:nvPicPr>
          <p:cNvPr id="23" name="Image 3" descr="arrow-right">    </p:cNvPr>
          <p:cNvPicPr>
            <a:picLocks noChangeAspect="1"/>
          </p:cNvPicPr>
          <p:nvPr/>
        </p:nvPicPr>
        <p:blipFill>
          <a:blip r:embed="rId4"/>
          <a:srcRect l="0" r="0" t="0" b="0"/>
          <a:stretch/>
        </p:blipFill>
        <p:spPr>
          <a:xfrm>
            <a:off x="9291340" y="3422600"/>
            <a:ext cx="228600" cy="152400"/>
          </a:xfrm>
          <a:prstGeom prst="rect">
            <a:avLst/>
          </a:prstGeom>
        </p:spPr>
      </p:pic>
      <p:sp>
        <p:nvSpPr>
          <p:cNvPr id="24" name="Shape 18"/>
          <p:cNvSpPr/>
          <p:nvPr/>
        </p:nvSpPr>
        <p:spPr>
          <a:xfrm>
            <a:off x="9621540" y="2689920"/>
            <a:ext cx="1757660" cy="1617811"/>
          </a:xfrm>
          <a:prstGeom prst="roundRect">
            <a:avLst>
              <a:gd name="adj" fmla="val 6280"/>
            </a:avLst>
          </a:prstGeom>
          <a:solidFill>
            <a:srgbClr val="13212F"/>
          </a:solidFill>
          <a:ln/>
        </p:spPr>
      </p:sp>
      <p:sp>
        <p:nvSpPr>
          <p:cNvPr id="25" name="Text 19"/>
          <p:cNvSpPr/>
          <p:nvPr/>
        </p:nvSpPr>
        <p:spPr>
          <a:xfrm>
            <a:off x="9799340" y="2867720"/>
            <a:ext cx="14528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DB4F2"/>
                </a:solidFill>
                <a:latin typeface="JetBrains Mono" pitchFamily="49" charset="0"/>
                <a:ea typeface="JetBrains Mono" pitchFamily="49" charset="-122"/>
                <a:cs typeface="JetBrains Mono" pitchFamily="49" charset="-120"/>
              </a:rPr>
              <a:t>05</a:t>
            </a:r>
            <a:endParaRPr lang="en-US" sz="1200" dirty="0"/>
          </a:p>
        </p:txBody>
      </p:sp>
      <p:sp>
        <p:nvSpPr>
          <p:cNvPr id="26" name="Text 20"/>
          <p:cNvSpPr/>
          <p:nvPr/>
        </p:nvSpPr>
        <p:spPr>
          <a:xfrm>
            <a:off x="9799340" y="3157240"/>
            <a:ext cx="14528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Tag release</a:t>
            </a:r>
            <a:endParaRPr lang="en-US" sz="1600" dirty="0"/>
          </a:p>
        </p:txBody>
      </p:sp>
      <p:sp>
        <p:nvSpPr>
          <p:cNvPr id="27" name="Text 21"/>
          <p:cNvSpPr/>
          <p:nvPr/>
        </p:nvSpPr>
        <p:spPr>
          <a:xfrm>
            <a:off x="9799340" y="3477270"/>
            <a:ext cx="14528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D"/>
                </a:solidFill>
                <a:latin typeface="IBM Plex Sans" pitchFamily="34" charset="0"/>
                <a:ea typeface="IBM Plex Sans" pitchFamily="34" charset="-122"/>
                <a:cs typeface="IBM Plex Sans" pitchFamily="34" charset="-120"/>
              </a:rPr>
              <a:t>v1.2.0 created, floating v1 moved</a:t>
            </a:r>
            <a:endParaRPr lang="en-US" sz="1200" dirty="0"/>
          </a:p>
        </p:txBody>
      </p:sp>
      <p:sp>
        <p:nvSpPr>
          <p:cNvPr id="28" name="Shape 22"/>
          <p:cNvSpPr/>
          <p:nvPr/>
        </p:nvSpPr>
        <p:spPr>
          <a:xfrm>
            <a:off x="812800" y="5373390"/>
            <a:ext cx="10566400" cy="0"/>
          </a:xfrm>
          <a:prstGeom prst="line">
            <a:avLst/>
          </a:prstGeom>
          <a:noFill/>
          <a:ln w="12700">
            <a:solidFill>
              <a:srgbClr val="D9DCD6"/>
            </a:solidFill>
            <a:prstDash val="solid"/>
          </a:ln>
        </p:spPr>
      </p:sp>
      <p:sp>
        <p:nvSpPr>
          <p:cNvPr id="29" name="Text 23"/>
          <p:cNvSpPr/>
          <p:nvPr/>
        </p:nvSpPr>
        <p:spPr>
          <a:xfrm>
            <a:off x="812800" y="5582940"/>
            <a:ext cx="348823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7"/>
                </a:solidFill>
                <a:latin typeface="IBM Plex Sans" pitchFamily="34" charset="0"/>
                <a:ea typeface="IBM Plex Sans" pitchFamily="34" charset="-122"/>
                <a:cs typeface="IBM Plex Sans" pitchFamily="34" charset="-120"/>
              </a:rPr>
              <a:t>No tags from PRs</a:t>
            </a:r>
            <a:r>
              <a:rPr lang="en-US" sz="1300" dirty="0">
                <a:solidFill>
                  <a:srgbClr val="3E4A57"/>
                </a:solidFill>
                <a:latin typeface="IBM Plex Sans" pitchFamily="34" charset="0"/>
                <a:ea typeface="IBM Plex Sans" pitchFamily="34" charset="-122"/>
                <a:cs typeface="IBM Plex Sans" pitchFamily="34" charset="-120"/>
              </a:rPr>
              <a:t> or feature branches</a:t>
            </a:r>
            <a:endParaRPr lang="en-US" sz="1300" dirty="0"/>
          </a:p>
        </p:txBody>
      </p:sp>
      <p:sp>
        <p:nvSpPr>
          <p:cNvPr id="30" name="Text 24"/>
          <p:cNvSpPr/>
          <p:nvPr/>
        </p:nvSpPr>
        <p:spPr>
          <a:xfrm>
            <a:off x="4402634" y="5582940"/>
            <a:ext cx="3488284"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7"/>
                </a:solidFill>
                <a:latin typeface="IBM Plex Sans" pitchFamily="34" charset="0"/>
                <a:ea typeface="IBM Plex Sans" pitchFamily="34" charset="-122"/>
                <a:cs typeface="IBM Plex Sans" pitchFamily="34" charset="-120"/>
              </a:rPr>
              <a:t>Tag already exists</a:t>
            </a:r>
            <a:r>
              <a:rPr lang="en-US" sz="1300" dirty="0">
                <a:solidFill>
                  <a:srgbClr val="3E4A57"/>
                </a:solidFill>
                <a:latin typeface="IBM Plex Sans" pitchFamily="34" charset="0"/>
                <a:ea typeface="IBM Plex Sans" pitchFamily="34" charset="-122"/>
                <a:cs typeface="IBM Plex Sans" pitchFamily="34" charset="-120"/>
              </a:rPr>
              <a:t> = build fails, forcing a version bump</a:t>
            </a:r>
            <a:endParaRPr lang="en-US" sz="1300" dirty="0"/>
          </a:p>
        </p:txBody>
      </p:sp>
      <p:sp>
        <p:nvSpPr>
          <p:cNvPr id="31" name="Text 25"/>
          <p:cNvSpPr/>
          <p:nvPr/>
        </p:nvSpPr>
        <p:spPr>
          <a:xfrm>
            <a:off x="7992517" y="5582940"/>
            <a:ext cx="348823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7"/>
                </a:solidFill>
                <a:latin typeface="IBM Plex Sans" pitchFamily="34" charset="0"/>
                <a:ea typeface="IBM Plex Sans" pitchFamily="34" charset="-122"/>
                <a:cs typeface="IBM Plex Sans" pitchFamily="34" charset="-120"/>
              </a:rPr>
              <a:t>Tag points at</a:t>
            </a:r>
            <a:r>
              <a:rPr lang="en-US" sz="1300" dirty="0">
                <a:solidFill>
                  <a:srgbClr val="3E4A57"/>
                </a:solidFill>
                <a:latin typeface="IBM Plex Sans" pitchFamily="34" charset="0"/>
                <a:ea typeface="IBM Plex Sans" pitchFamily="34" charset="-122"/>
                <a:cs typeface="IBM Plex Sans" pitchFamily="34" charset="-120"/>
              </a:rPr>
              <a:t> the exact commit that was tested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12F"/>
                </a:solidFill>
                <a:latin typeface="IBM Plex Sans" pitchFamily="34" charset="0"/>
                <a:ea typeface="IBM Plex Sans" pitchFamily="34" charset="-122"/>
                <a:cs typeface="IBM Plex Sans" pitchFamily="34" charset="-120"/>
              </a:rPr>
              <a:t>App deployment flow</a:t>
            </a:r>
            <a:endParaRPr lang="en-US" sz="3200" dirty="0"/>
          </a:p>
        </p:txBody>
      </p:sp>
      <p:sp>
        <p:nvSpPr>
          <p:cNvPr id="3" name="Text 1"/>
          <p:cNvSpPr/>
          <p:nvPr/>
        </p:nvSpPr>
        <p:spPr>
          <a:xfrm>
            <a:off x="812800" y="13817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7"/>
                </a:solidFill>
                <a:latin typeface="IBM Plex Sans" pitchFamily="34" charset="0"/>
                <a:ea typeface="IBM Plex Sans" pitchFamily="34" charset="-122"/>
                <a:cs typeface="IBM Plex Sans" pitchFamily="34" charset="-120"/>
              </a:rPr>
              <a:t>How an application repo consumes a version. Each environment runs plan, then apply.</a:t>
            </a:r>
            <a:endParaRPr lang="en-US" sz="1400" dirty="0"/>
          </a:p>
        </p:txBody>
      </p:sp>
      <p:sp>
        <p:nvSpPr>
          <p:cNvPr id="4" name="Shape 2"/>
          <p:cNvSpPr/>
          <p:nvPr/>
        </p:nvSpPr>
        <p:spPr>
          <a:xfrm>
            <a:off x="815975" y="2684214"/>
            <a:ext cx="1764010" cy="1629271"/>
          </a:xfrm>
          <a:prstGeom prst="roundRect">
            <a:avLst>
              <a:gd name="adj" fmla="val 6041"/>
            </a:avLst>
          </a:prstGeom>
          <a:solidFill>
            <a:srgbClr val="FCFCFA"/>
          </a:solidFill>
          <a:ln w="6350">
            <a:solidFill>
              <a:srgbClr val="D9DCD6"/>
            </a:solidFill>
            <a:prstDash val="solid"/>
          </a:ln>
        </p:spPr>
      </p:sp>
      <p:sp>
        <p:nvSpPr>
          <p:cNvPr id="5" name="Text 3"/>
          <p:cNvSpPr/>
          <p:nvPr/>
        </p:nvSpPr>
        <p:spPr>
          <a:xfrm>
            <a:off x="996950" y="2865189"/>
            <a:ext cx="14528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571A"/>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96950" y="3154710"/>
            <a:ext cx="14528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Pin version</a:t>
            </a:r>
            <a:endParaRPr lang="en-US" sz="1600" dirty="0"/>
          </a:p>
        </p:txBody>
      </p:sp>
      <p:sp>
        <p:nvSpPr>
          <p:cNvPr id="7" name="Text 5"/>
          <p:cNvSpPr/>
          <p:nvPr/>
        </p:nvSpPr>
        <p:spPr>
          <a:xfrm>
            <a:off x="996950" y="3474740"/>
            <a:ext cx="14528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A PR sets ref to the IaC tag</a:t>
            </a:r>
            <a:endParaRPr lang="en-US" sz="1200" dirty="0"/>
          </a:p>
        </p:txBody>
      </p:sp>
      <p:pic>
        <p:nvPicPr>
          <p:cNvPr id="8" name="Image 0" descr="arrow-right">    </p:cNvPr>
          <p:cNvPicPr>
            <a:picLocks noChangeAspect="1"/>
          </p:cNvPicPr>
          <p:nvPr/>
        </p:nvPicPr>
        <p:blipFill>
          <a:blip r:embed="rId1"/>
          <a:srcRect l="0" r="0" t="0" b="0"/>
          <a:stretch/>
        </p:blipFill>
        <p:spPr>
          <a:xfrm>
            <a:off x="2684760" y="3422650"/>
            <a:ext cx="228600" cy="152400"/>
          </a:xfrm>
          <a:prstGeom prst="rect">
            <a:avLst/>
          </a:prstGeom>
        </p:spPr>
      </p:pic>
      <p:sp>
        <p:nvSpPr>
          <p:cNvPr id="9" name="Shape 6"/>
          <p:cNvSpPr/>
          <p:nvPr/>
        </p:nvSpPr>
        <p:spPr>
          <a:xfrm>
            <a:off x="3018135" y="2684214"/>
            <a:ext cx="1764060" cy="1629271"/>
          </a:xfrm>
          <a:prstGeom prst="roundRect">
            <a:avLst>
              <a:gd name="adj" fmla="val 6041"/>
            </a:avLst>
          </a:prstGeom>
          <a:solidFill>
            <a:srgbClr val="FCFCFA"/>
          </a:solidFill>
          <a:ln w="6350">
            <a:solidFill>
              <a:srgbClr val="D9DCD6"/>
            </a:solidFill>
            <a:prstDash val="solid"/>
          </a:ln>
        </p:spPr>
      </p:sp>
      <p:sp>
        <p:nvSpPr>
          <p:cNvPr id="10" name="Text 7"/>
          <p:cNvSpPr/>
          <p:nvPr/>
        </p:nvSpPr>
        <p:spPr>
          <a:xfrm>
            <a:off x="3199110" y="2865189"/>
            <a:ext cx="14529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571A"/>
                </a:solidFill>
                <a:latin typeface="JetBrains Mono" pitchFamily="49" charset="0"/>
                <a:ea typeface="JetBrains Mono" pitchFamily="49" charset="-122"/>
                <a:cs typeface="JetBrains Mono" pitchFamily="49" charset="-120"/>
              </a:rPr>
              <a:t>02</a:t>
            </a:r>
            <a:endParaRPr lang="en-US" sz="1200" dirty="0"/>
          </a:p>
        </p:txBody>
      </p:sp>
      <p:sp>
        <p:nvSpPr>
          <p:cNvPr id="11" name="Text 8"/>
          <p:cNvSpPr/>
          <p:nvPr/>
        </p:nvSpPr>
        <p:spPr>
          <a:xfrm>
            <a:off x="3199110" y="3154710"/>
            <a:ext cx="14529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Plan dev</a:t>
            </a:r>
            <a:endParaRPr lang="en-US" sz="1600" dirty="0"/>
          </a:p>
        </p:txBody>
      </p:sp>
      <p:sp>
        <p:nvSpPr>
          <p:cNvPr id="12" name="Text 9"/>
          <p:cNvSpPr/>
          <p:nvPr/>
        </p:nvSpPr>
        <p:spPr>
          <a:xfrm>
            <a:off x="3199110" y="3474740"/>
            <a:ext cx="14529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Saved plan; apply skipped if no changes</a:t>
            </a:r>
            <a:endParaRPr lang="en-US" sz="1200" dirty="0"/>
          </a:p>
        </p:txBody>
      </p:sp>
      <p:pic>
        <p:nvPicPr>
          <p:cNvPr id="13" name="Image 1" descr="arrow-right">    </p:cNvPr>
          <p:cNvPicPr>
            <a:picLocks noChangeAspect="1"/>
          </p:cNvPicPr>
          <p:nvPr/>
        </p:nvPicPr>
        <p:blipFill>
          <a:blip r:embed="rId2"/>
          <a:srcRect l="0" r="0" t="0" b="0"/>
          <a:stretch/>
        </p:blipFill>
        <p:spPr>
          <a:xfrm>
            <a:off x="4886970" y="3422650"/>
            <a:ext cx="228600" cy="152400"/>
          </a:xfrm>
          <a:prstGeom prst="rect">
            <a:avLst/>
          </a:prstGeom>
        </p:spPr>
      </p:pic>
      <p:sp>
        <p:nvSpPr>
          <p:cNvPr id="14" name="Shape 10"/>
          <p:cNvSpPr/>
          <p:nvPr/>
        </p:nvSpPr>
        <p:spPr>
          <a:xfrm>
            <a:off x="5220345" y="2684214"/>
            <a:ext cx="1764010" cy="1629271"/>
          </a:xfrm>
          <a:prstGeom prst="roundRect">
            <a:avLst>
              <a:gd name="adj" fmla="val 6041"/>
            </a:avLst>
          </a:prstGeom>
          <a:solidFill>
            <a:srgbClr val="FCFCFA"/>
          </a:solidFill>
          <a:ln w="6350">
            <a:solidFill>
              <a:srgbClr val="D9DCD6"/>
            </a:solidFill>
            <a:prstDash val="solid"/>
          </a:ln>
        </p:spPr>
      </p:sp>
      <p:sp>
        <p:nvSpPr>
          <p:cNvPr id="15" name="Text 11"/>
          <p:cNvSpPr/>
          <p:nvPr/>
        </p:nvSpPr>
        <p:spPr>
          <a:xfrm>
            <a:off x="5401320" y="2865189"/>
            <a:ext cx="14528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571A"/>
                </a:solidFill>
                <a:latin typeface="JetBrains Mono" pitchFamily="49" charset="0"/>
                <a:ea typeface="JetBrains Mono" pitchFamily="49" charset="-122"/>
                <a:cs typeface="JetBrains Mono" pitchFamily="49" charset="-120"/>
              </a:rPr>
              <a:t>03</a:t>
            </a:r>
            <a:endParaRPr lang="en-US" sz="1200" dirty="0"/>
          </a:p>
        </p:txBody>
      </p:sp>
      <p:sp>
        <p:nvSpPr>
          <p:cNvPr id="16" name="Text 12"/>
          <p:cNvSpPr/>
          <p:nvPr/>
        </p:nvSpPr>
        <p:spPr>
          <a:xfrm>
            <a:off x="5401320" y="3154710"/>
            <a:ext cx="14528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Apply dev</a:t>
            </a:r>
            <a:endParaRPr lang="en-US" sz="1600" dirty="0"/>
          </a:p>
        </p:txBody>
      </p:sp>
      <p:sp>
        <p:nvSpPr>
          <p:cNvPr id="17" name="Text 13"/>
          <p:cNvSpPr/>
          <p:nvPr/>
        </p:nvSpPr>
        <p:spPr>
          <a:xfrm>
            <a:off x="5401320" y="3474740"/>
            <a:ext cx="14528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Exact saved plan, main branch only</a:t>
            </a:r>
            <a:endParaRPr lang="en-US" sz="1200" dirty="0"/>
          </a:p>
        </p:txBody>
      </p:sp>
      <p:pic>
        <p:nvPicPr>
          <p:cNvPr id="18" name="Image 2" descr="arrow-right">    </p:cNvPr>
          <p:cNvPicPr>
            <a:picLocks noChangeAspect="1"/>
          </p:cNvPicPr>
          <p:nvPr/>
        </p:nvPicPr>
        <p:blipFill>
          <a:blip r:embed="rId3"/>
          <a:srcRect l="0" r="0" t="0" b="0"/>
          <a:stretch/>
        </p:blipFill>
        <p:spPr>
          <a:xfrm>
            <a:off x="7089130" y="3422650"/>
            <a:ext cx="228600" cy="152400"/>
          </a:xfrm>
          <a:prstGeom prst="rect">
            <a:avLst/>
          </a:prstGeom>
        </p:spPr>
      </p:pic>
      <p:sp>
        <p:nvSpPr>
          <p:cNvPr id="19" name="Shape 14"/>
          <p:cNvSpPr/>
          <p:nvPr/>
        </p:nvSpPr>
        <p:spPr>
          <a:xfrm>
            <a:off x="7422505" y="2684214"/>
            <a:ext cx="1764060" cy="1629271"/>
          </a:xfrm>
          <a:prstGeom prst="roundRect">
            <a:avLst>
              <a:gd name="adj" fmla="val 6041"/>
            </a:avLst>
          </a:prstGeom>
          <a:solidFill>
            <a:srgbClr val="FCFCFA"/>
          </a:solidFill>
          <a:ln w="6350">
            <a:solidFill>
              <a:srgbClr val="D9DCD6"/>
            </a:solidFill>
            <a:prstDash val="solid"/>
          </a:ln>
        </p:spPr>
      </p:sp>
      <p:sp>
        <p:nvSpPr>
          <p:cNvPr id="20" name="Text 15"/>
          <p:cNvSpPr/>
          <p:nvPr/>
        </p:nvSpPr>
        <p:spPr>
          <a:xfrm>
            <a:off x="7603480" y="2865189"/>
            <a:ext cx="14529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571A"/>
                </a:solidFill>
                <a:latin typeface="JetBrains Mono" pitchFamily="49" charset="0"/>
                <a:ea typeface="JetBrains Mono" pitchFamily="49" charset="-122"/>
                <a:cs typeface="JetBrains Mono" pitchFamily="49" charset="-120"/>
              </a:rPr>
              <a:t>04</a:t>
            </a:r>
            <a:endParaRPr lang="en-US" sz="1200" dirty="0"/>
          </a:p>
        </p:txBody>
      </p:sp>
      <p:sp>
        <p:nvSpPr>
          <p:cNvPr id="21" name="Text 16"/>
          <p:cNvSpPr/>
          <p:nvPr/>
        </p:nvSpPr>
        <p:spPr>
          <a:xfrm>
            <a:off x="7603480" y="3154710"/>
            <a:ext cx="14529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Plan prod</a:t>
            </a:r>
            <a:endParaRPr lang="en-US" sz="1600" dirty="0"/>
          </a:p>
        </p:txBody>
      </p:sp>
      <p:sp>
        <p:nvSpPr>
          <p:cNvPr id="22" name="Text 17"/>
          <p:cNvSpPr/>
          <p:nvPr/>
        </p:nvSpPr>
        <p:spPr>
          <a:xfrm>
            <a:off x="7603480" y="3474740"/>
            <a:ext cx="14529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pitchFamily="34" charset="0"/>
                <a:ea typeface="IBM Plex Sans" pitchFamily="34" charset="-122"/>
                <a:cs typeface="IBM Plex Sans" pitchFamily="34" charset="-120"/>
              </a:rPr>
              <a:t>Runs only after dev succeeds</a:t>
            </a:r>
            <a:endParaRPr lang="en-US" sz="1200" dirty="0"/>
          </a:p>
        </p:txBody>
      </p:sp>
      <p:pic>
        <p:nvPicPr>
          <p:cNvPr id="23" name="Image 3" descr="arrow-right">    </p:cNvPr>
          <p:cNvPicPr>
            <a:picLocks noChangeAspect="1"/>
          </p:cNvPicPr>
          <p:nvPr/>
        </p:nvPicPr>
        <p:blipFill>
          <a:blip r:embed="rId4"/>
          <a:srcRect l="0" r="0" t="0" b="0"/>
          <a:stretch/>
        </p:blipFill>
        <p:spPr>
          <a:xfrm>
            <a:off x="9291340" y="3422650"/>
            <a:ext cx="228600" cy="152400"/>
          </a:xfrm>
          <a:prstGeom prst="rect">
            <a:avLst/>
          </a:prstGeom>
        </p:spPr>
      </p:pic>
      <p:sp>
        <p:nvSpPr>
          <p:cNvPr id="24" name="Shape 18"/>
          <p:cNvSpPr/>
          <p:nvPr/>
        </p:nvSpPr>
        <p:spPr>
          <a:xfrm>
            <a:off x="9621540" y="2681039"/>
            <a:ext cx="1757660" cy="1635621"/>
          </a:xfrm>
          <a:prstGeom prst="roundRect">
            <a:avLst>
              <a:gd name="adj" fmla="val 6212"/>
            </a:avLst>
          </a:prstGeom>
          <a:solidFill>
            <a:srgbClr val="13212F"/>
          </a:solidFill>
          <a:ln/>
        </p:spPr>
      </p:sp>
      <p:sp>
        <p:nvSpPr>
          <p:cNvPr id="25" name="Text 19"/>
          <p:cNvSpPr/>
          <p:nvPr/>
        </p:nvSpPr>
        <p:spPr>
          <a:xfrm>
            <a:off x="9799340" y="2858839"/>
            <a:ext cx="14528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46B"/>
                </a:solidFill>
                <a:latin typeface="JetBrains Mono" pitchFamily="49" charset="0"/>
                <a:ea typeface="JetBrains Mono" pitchFamily="49" charset="-122"/>
                <a:cs typeface="JetBrains Mono" pitchFamily="49" charset="-120"/>
              </a:rPr>
              <a:t>05</a:t>
            </a:r>
            <a:endParaRPr lang="en-US" sz="1200" dirty="0"/>
          </a:p>
        </p:txBody>
      </p:sp>
      <p:sp>
        <p:nvSpPr>
          <p:cNvPr id="26" name="Text 20"/>
          <p:cNvSpPr/>
          <p:nvPr/>
        </p:nvSpPr>
        <p:spPr>
          <a:xfrm>
            <a:off x="9799340" y="3148360"/>
            <a:ext cx="1452860"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IBM Plex Sans" pitchFamily="34" charset="0"/>
                <a:ea typeface="IBM Plex Sans" pitchFamily="34" charset="-122"/>
                <a:cs typeface="IBM Plex Sans" pitchFamily="34" charset="-120"/>
              </a:rPr>
              <a:t>Approve + apply</a:t>
            </a:r>
            <a:endParaRPr lang="en-US" sz="1600" dirty="0"/>
          </a:p>
        </p:txBody>
      </p:sp>
      <p:sp>
        <p:nvSpPr>
          <p:cNvPr id="27" name="Text 21"/>
          <p:cNvSpPr/>
          <p:nvPr/>
        </p:nvSpPr>
        <p:spPr>
          <a:xfrm>
            <a:off x="9799340" y="3712220"/>
            <a:ext cx="14528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D"/>
                </a:solidFill>
                <a:latin typeface="IBM Plex Sans" pitchFamily="34" charset="0"/>
                <a:ea typeface="IBM Plex Sans" pitchFamily="34" charset="-122"/>
                <a:cs typeface="IBM Plex Sans" pitchFamily="34" charset="-120"/>
              </a:rPr>
              <a:t>ADO environment check gates prod</a:t>
            </a:r>
            <a:endParaRPr lang="en-US" sz="1200" dirty="0"/>
          </a:p>
        </p:txBody>
      </p:sp>
      <p:sp>
        <p:nvSpPr>
          <p:cNvPr id="28" name="Shape 22"/>
          <p:cNvSpPr/>
          <p:nvPr/>
        </p:nvSpPr>
        <p:spPr>
          <a:xfrm>
            <a:off x="812800" y="5373390"/>
            <a:ext cx="10566400" cy="0"/>
          </a:xfrm>
          <a:prstGeom prst="line">
            <a:avLst/>
          </a:prstGeom>
          <a:noFill/>
          <a:ln w="12700">
            <a:solidFill>
              <a:srgbClr val="D9DCD6"/>
            </a:solidFill>
            <a:prstDash val="solid"/>
          </a:ln>
        </p:spPr>
      </p:sp>
      <p:sp>
        <p:nvSpPr>
          <p:cNvPr id="29" name="Text 23"/>
          <p:cNvSpPr/>
          <p:nvPr/>
        </p:nvSpPr>
        <p:spPr>
          <a:xfrm>
            <a:off x="812800" y="5582940"/>
            <a:ext cx="348823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7"/>
                </a:solidFill>
                <a:latin typeface="IBM Plex Sans" pitchFamily="34" charset="0"/>
                <a:ea typeface="IBM Plex Sans" pitchFamily="34" charset="-122"/>
                <a:cs typeface="IBM Plex Sans" pitchFamily="34" charset="-120"/>
              </a:rPr>
              <a:t>Upgrade</a:t>
            </a:r>
            <a:r>
              <a:rPr lang="en-US" sz="1300" dirty="0">
                <a:solidFill>
                  <a:srgbClr val="3E4A57"/>
                </a:solidFill>
                <a:latin typeface="IBM Plex Sans" pitchFamily="34" charset="0"/>
                <a:ea typeface="IBM Plex Sans" pitchFamily="34" charset="-122"/>
                <a:cs typeface="IBM Plex Sans" pitchFamily="34" charset="-120"/>
              </a:rPr>
              <a:t> is a one-line, reviewable PR</a:t>
            </a:r>
            <a:endParaRPr lang="en-US" sz="1300" dirty="0"/>
          </a:p>
        </p:txBody>
      </p:sp>
      <p:sp>
        <p:nvSpPr>
          <p:cNvPr id="30" name="Text 24"/>
          <p:cNvSpPr/>
          <p:nvPr/>
        </p:nvSpPr>
        <p:spPr>
          <a:xfrm>
            <a:off x="4402634" y="5582940"/>
            <a:ext cx="3488284"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7"/>
                </a:solidFill>
                <a:latin typeface="IBM Plex Sans" pitchFamily="34" charset="0"/>
                <a:ea typeface="IBM Plex Sans" pitchFamily="34" charset="-122"/>
                <a:cs typeface="IBM Plex Sans" pitchFamily="34" charset="-120"/>
              </a:rPr>
              <a:t>Rollback</a:t>
            </a:r>
            <a:r>
              <a:rPr lang="en-US" sz="1300" dirty="0">
                <a:solidFill>
                  <a:srgbClr val="3E4A57"/>
                </a:solidFill>
                <a:latin typeface="IBM Plex Sans" pitchFamily="34" charset="0"/>
                <a:ea typeface="IBM Plex Sans" pitchFamily="34" charset="-122"/>
                <a:cs typeface="IBM Plex Sans" pitchFamily="34" charset="-120"/>
              </a:rPr>
              <a:t> is reverting that PR</a:t>
            </a:r>
            <a:endParaRPr lang="en-US" sz="1300" dirty="0"/>
          </a:p>
        </p:txBody>
      </p:sp>
      <p:sp>
        <p:nvSpPr>
          <p:cNvPr id="31" name="Text 25"/>
          <p:cNvSpPr/>
          <p:nvPr/>
        </p:nvSpPr>
        <p:spPr>
          <a:xfrm>
            <a:off x="7992517" y="5582940"/>
            <a:ext cx="348823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7"/>
                </a:solidFill>
                <a:latin typeface="IBM Plex Sans" pitchFamily="34" charset="0"/>
                <a:ea typeface="IBM Plex Sans" pitchFamily="34" charset="-122"/>
                <a:cs typeface="IBM Plex Sans" pitchFamily="34" charset="-120"/>
              </a:rPr>
              <a:t>State changed</a:t>
            </a:r>
            <a:r>
              <a:rPr lang="en-US" sz="1300" dirty="0">
                <a:solidFill>
                  <a:srgbClr val="3E4A57"/>
                </a:solidFill>
                <a:latin typeface="IBM Plex Sans" pitchFamily="34" charset="0"/>
                <a:ea typeface="IBM Plex Sans" pitchFamily="34" charset="-122"/>
                <a:cs typeface="IBM Plex Sans" pitchFamily="34" charset="-120"/>
              </a:rPr>
              <a:t> since plan? Apply refuses the stale plan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12F"/>
                </a:solidFill>
                <a:latin typeface="IBM Plex Sans" pitchFamily="34" charset="0"/>
                <a:ea typeface="IBM Plex Sans" pitchFamily="34" charset="-122"/>
                <a:cs typeface="IBM Plex Sans" pitchFamily="34" charset="-120"/>
              </a:rPr>
              <a:t>Who owns what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515245"/>
        </p:xfrm>
        <a:graphic>
          <a:graphicData uri="http://schemas.openxmlformats.org/drawingml/2006/table">
            <a:tbl>
              <a:tblPr/>
              <a:tblGrid>
                <a:gridCol w="2743962"/>
                <a:gridCol w="3904869"/>
                <a:gridCol w="3904869"/>
              </a:tblGrid>
              <a:tr h="359321">
                <a:tc>
                  <a:txBody>
                    <a:bodyPr/>
                    <a:lstStyle/>
                    <a:p>
                      <a:pPr indent="0" marL="0">
                        <a:lnSpc>
                          <a:spcPts val="1820"/>
                        </a:lnSpc>
                        <a:buNone/>
                      </a:pPr>
                      <a:r>
                        <a:rPr lang="en-US" sz="1300" b="1" dirty="0">
                          <a:solidFill>
                            <a:srgbClr val="F5F4EF"/>
                          </a:solidFill>
                          <a:latin typeface="IBM Plex Sans" pitchFamily="34" charset="0"/>
                          <a:ea typeface="IBM Plex Sans" pitchFamily="34" charset="-122"/>
                          <a:cs typeface="IBM Plex Sans" pitchFamily="34" charset="-120"/>
                        </a:rPr>
                        <a:t>Concern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31E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1E29"/>
                      </a:solidFill>
                      <a:prstDash val="solid"/>
                      <a:round/>
                      <a:headEnd type="none" w="med" len="med"/>
                      <a:tailEnd type="none" w="med" len="med"/>
                    </a:lnB>
                    <a:solidFill>
                      <a:srgbClr val="13212F"/>
                    </a:solidFill>
                  </a:tcPr>
                </a:tc>
                <a:tc>
                  <a:txBody>
                    <a:bodyPr/>
                    <a:lstStyle/>
                    <a:p>
                      <a:pPr indent="0" marL="0">
                        <a:lnSpc>
                          <a:spcPts val="1820"/>
                        </a:lnSpc>
                        <a:buNone/>
                      </a:pPr>
                      <a:r>
                        <a:rPr lang="en-US" sz="1300" b="1" dirty="0">
                          <a:solidFill>
                            <a:srgbClr val="8DB4F2"/>
                          </a:solidFill>
                          <a:latin typeface="IBM Plex Sans" pitchFamily="34" charset="0"/>
                          <a:ea typeface="IBM Plex Sans" pitchFamily="34" charset="-122"/>
                          <a:cs typeface="IBM Plex Sans" pitchFamily="34" charset="-120"/>
                        </a:rPr>
                        <a:t>IaC repo (platform)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1E29"/>
                      </a:solidFill>
                      <a:prstDash val="solid"/>
                      <a:round/>
                      <a:headEnd type="none" w="med" len="med"/>
                      <a:tailEnd type="none" w="med" len="med"/>
                    </a:lnL>
                    <a:lnR w="12700" cap="flat" cmpd="sng" algn="ctr">
                      <a:solidFill>
                        <a:srgbClr val="131E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1E29"/>
                      </a:solidFill>
                      <a:prstDash val="solid"/>
                      <a:round/>
                      <a:headEnd type="none" w="med" len="med"/>
                      <a:tailEnd type="none" w="med" len="med"/>
                    </a:lnB>
                    <a:solidFill>
                      <a:srgbClr val="13212F"/>
                    </a:solidFill>
                  </a:tcPr>
                </a:tc>
                <a:tc>
                  <a:txBody>
                    <a:bodyPr/>
                    <a:lstStyle/>
                    <a:p>
                      <a:pPr indent="0" marL="0">
                        <a:lnSpc>
                          <a:spcPts val="1820"/>
                        </a:lnSpc>
                        <a:buNone/>
                      </a:pPr>
                      <a:r>
                        <a:rPr lang="en-US" sz="1300" b="1" dirty="0">
                          <a:solidFill>
                            <a:srgbClr val="F2A46B"/>
                          </a:solidFill>
                          <a:latin typeface="IBM Plex Sans" pitchFamily="34" charset="0"/>
                          <a:ea typeface="IBM Plex Sans" pitchFamily="34" charset="-122"/>
                          <a:cs typeface="IBM Plex Sans" pitchFamily="34" charset="-120"/>
                        </a:rPr>
                        <a:t>App repo (app team)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1E29"/>
                      </a:solidFill>
                      <a:prstDash val="solid"/>
                      <a:round/>
                      <a:headEnd type="none" w="med" len="med"/>
                      <a:tailEnd type="none" w="med" len="med"/>
                    </a:lnL>
                    <a:lnR w="12700" cap="flat" cmpd="sng" algn="ctr">
                      <a:solidFill>
                        <a:srgbClr val="131E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1E29"/>
                      </a:solidFill>
                      <a:prstDash val="solid"/>
                      <a:round/>
                      <a:headEnd type="none" w="med" len="med"/>
                      <a:tailEnd type="none" w="med" len="med"/>
                    </a:lnB>
                    <a:solidFill>
                      <a:srgbClr val="13212F"/>
                    </a:solidFill>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Terraform code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1E2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Module, naming, mandatory tags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1E2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Consumes it at a pinned tag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1E2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Pipeline logic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terraform-deploy.yml template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extends it, lists environments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Inputs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Variables and validation rules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tfvars per environment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State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Backend type and auth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Storage account and key per env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Versioning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Publishes semver tags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Chooses exact or floating tag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Approvals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None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ADO environment checks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12F"/>
                </a:solidFill>
                <a:latin typeface="IBM Plex Sans" pitchFamily="34" charset="0"/>
                <a:ea typeface="IBM Plex Sans" pitchFamily="34" charset="-122"/>
                <a:cs typeface="IBM Plex Sans" pitchFamily="34" charset="-120"/>
              </a:rPr>
              <a:t>What we gain</a:t>
            </a:r>
            <a:endParaRPr lang="en-US" sz="3200" dirty="0"/>
          </a:p>
        </p:txBody>
      </p:sp>
      <p:sp>
        <p:nvSpPr>
          <p:cNvPr id="3" name="Shape 1"/>
          <p:cNvSpPr/>
          <p:nvPr/>
        </p:nvSpPr>
        <p:spPr>
          <a:xfrm>
            <a:off x="815975" y="1588095"/>
            <a:ext cx="3380284" cy="1857970"/>
          </a:xfrm>
          <a:prstGeom prst="roundRect">
            <a:avLst>
              <a:gd name="adj" fmla="val 5297"/>
            </a:avLst>
          </a:prstGeom>
          <a:solidFill>
            <a:srgbClr val="FCFCFA"/>
          </a:solidFill>
          <a:ln w="6350">
            <a:solidFill>
              <a:srgbClr val="D9DCD6"/>
            </a:solidFill>
            <a:prstDash val="solid"/>
          </a:ln>
        </p:spPr>
      </p:sp>
      <p:pic>
        <p:nvPicPr>
          <p:cNvPr id="4" name="Image 0" descr="Verified">    </p:cNvPr>
          <p:cNvPicPr>
            <a:picLocks noChangeAspect="1"/>
          </p:cNvPicPr>
          <p:nvPr/>
        </p:nvPicPr>
        <p:blipFill>
          <a:blip r:embed="rId1"/>
          <a:srcRect l="0" r="0" t="0" b="0"/>
          <a:stretch/>
        </p:blipFill>
        <p:spPr>
          <a:xfrm>
            <a:off x="1047750" y="1819870"/>
            <a:ext cx="304800" cy="304800"/>
          </a:xfrm>
          <a:prstGeom prst="rect">
            <a:avLst/>
          </a:prstGeom>
        </p:spPr>
      </p:pic>
      <p:sp>
        <p:nvSpPr>
          <p:cNvPr id="5" name="Text 2"/>
          <p:cNvSpPr/>
          <p:nvPr/>
        </p:nvSpPr>
        <p:spPr>
          <a:xfrm>
            <a:off x="1047750" y="2200870"/>
            <a:ext cx="30042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Reproducible</a:t>
            </a:r>
            <a:endParaRPr lang="en-US" sz="1600" dirty="0"/>
          </a:p>
        </p:txBody>
      </p:sp>
      <p:sp>
        <p:nvSpPr>
          <p:cNvPr id="6" name="Text 3"/>
          <p:cNvSpPr/>
          <p:nvPr/>
        </p:nvSpPr>
        <p:spPr>
          <a:xfrm>
            <a:off x="1047750" y="2520900"/>
            <a:ext cx="300423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7"/>
                </a:solidFill>
                <a:latin typeface="IBM Plex Sans" pitchFamily="34" charset="0"/>
                <a:ea typeface="IBM Plex Sans" pitchFamily="34" charset="-122"/>
                <a:cs typeface="IBM Plex Sans" pitchFamily="34" charset="-120"/>
              </a:rPr>
              <a:t>A tag pins Terraform code and pipeline logic together. Same inputs, same plan.</a:t>
            </a:r>
            <a:endParaRPr lang="en-US" sz="1300" dirty="0"/>
          </a:p>
        </p:txBody>
      </p:sp>
      <p:sp>
        <p:nvSpPr>
          <p:cNvPr id="7" name="Shape 4"/>
          <p:cNvSpPr/>
          <p:nvPr/>
        </p:nvSpPr>
        <p:spPr>
          <a:xfrm>
            <a:off x="4405809" y="1588095"/>
            <a:ext cx="3380333" cy="1857970"/>
          </a:xfrm>
          <a:prstGeom prst="roundRect">
            <a:avLst>
              <a:gd name="adj" fmla="val 5297"/>
            </a:avLst>
          </a:prstGeom>
          <a:solidFill>
            <a:srgbClr val="FCFCFA"/>
          </a:solidFill>
          <a:ln w="6350">
            <a:solidFill>
              <a:srgbClr val="D9DCD6"/>
            </a:solidFill>
            <a:prstDash val="solid"/>
          </a:ln>
        </p:spPr>
      </p:sp>
      <p:pic>
        <p:nvPicPr>
          <p:cNvPr id="8" name="Image 1" descr="Check">    </p:cNvPr>
          <p:cNvPicPr>
            <a:picLocks noChangeAspect="1"/>
          </p:cNvPicPr>
          <p:nvPr/>
        </p:nvPicPr>
        <p:blipFill>
          <a:blip r:embed="rId2"/>
          <a:srcRect l="0" r="0" t="0" b="0"/>
          <a:stretch/>
        </p:blipFill>
        <p:spPr>
          <a:xfrm>
            <a:off x="4637584" y="1819870"/>
            <a:ext cx="304800" cy="304800"/>
          </a:xfrm>
          <a:prstGeom prst="rect">
            <a:avLst/>
          </a:prstGeom>
        </p:spPr>
      </p:pic>
      <p:sp>
        <p:nvSpPr>
          <p:cNvPr id="9" name="Text 5"/>
          <p:cNvSpPr/>
          <p:nvPr/>
        </p:nvSpPr>
        <p:spPr>
          <a:xfrm>
            <a:off x="4637584" y="2200870"/>
            <a:ext cx="300428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Reviewable upgrades</a:t>
            </a:r>
            <a:endParaRPr lang="en-US" sz="1600" dirty="0"/>
          </a:p>
        </p:txBody>
      </p:sp>
      <p:sp>
        <p:nvSpPr>
          <p:cNvPr id="10" name="Text 6"/>
          <p:cNvSpPr/>
          <p:nvPr/>
        </p:nvSpPr>
        <p:spPr>
          <a:xfrm>
            <a:off x="4637584" y="2520900"/>
            <a:ext cx="300428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7"/>
                </a:solidFill>
                <a:latin typeface="IBM Plex Sans" pitchFamily="34" charset="0"/>
                <a:ea typeface="IBM Plex Sans" pitchFamily="34" charset="-122"/>
                <a:cs typeface="IBM Plex Sans" pitchFamily="34" charset="-120"/>
              </a:rPr>
              <a:t>Moving to a new version is a one-line PR. Rollback is reverting it.</a:t>
            </a:r>
            <a:endParaRPr lang="en-US" sz="1300" dirty="0"/>
          </a:p>
        </p:txBody>
      </p:sp>
      <p:sp>
        <p:nvSpPr>
          <p:cNvPr id="11" name="Shape 7"/>
          <p:cNvSpPr/>
          <p:nvPr/>
        </p:nvSpPr>
        <p:spPr>
          <a:xfrm>
            <a:off x="7995692" y="1588095"/>
            <a:ext cx="3380284" cy="1857970"/>
          </a:xfrm>
          <a:prstGeom prst="roundRect">
            <a:avLst>
              <a:gd name="adj" fmla="val 5297"/>
            </a:avLst>
          </a:prstGeom>
          <a:solidFill>
            <a:srgbClr val="FCFCFA"/>
          </a:solidFill>
          <a:ln w="6350">
            <a:solidFill>
              <a:srgbClr val="D9DCD6"/>
            </a:solidFill>
            <a:prstDash val="solid"/>
          </a:ln>
        </p:spPr>
      </p:sp>
      <p:pic>
        <p:nvPicPr>
          <p:cNvPr id="12" name="Image 2" descr="Settings">    </p:cNvPr>
          <p:cNvPicPr>
            <a:picLocks noChangeAspect="1"/>
          </p:cNvPicPr>
          <p:nvPr/>
        </p:nvPicPr>
        <p:blipFill>
          <a:blip r:embed="rId3"/>
          <a:srcRect l="0" r="0" t="0" b="0"/>
          <a:stretch/>
        </p:blipFill>
        <p:spPr>
          <a:xfrm>
            <a:off x="8227467" y="1819870"/>
            <a:ext cx="304800" cy="304800"/>
          </a:xfrm>
          <a:prstGeom prst="rect">
            <a:avLst/>
          </a:prstGeom>
        </p:spPr>
      </p:pic>
      <p:sp>
        <p:nvSpPr>
          <p:cNvPr id="13" name="Text 8"/>
          <p:cNvSpPr/>
          <p:nvPr/>
        </p:nvSpPr>
        <p:spPr>
          <a:xfrm>
            <a:off x="8227467" y="2200870"/>
            <a:ext cx="30042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One pipeline</a:t>
            </a:r>
            <a:endParaRPr lang="en-US" sz="1600" dirty="0"/>
          </a:p>
        </p:txBody>
      </p:sp>
      <p:sp>
        <p:nvSpPr>
          <p:cNvPr id="14" name="Text 9"/>
          <p:cNvSpPr/>
          <p:nvPr/>
        </p:nvSpPr>
        <p:spPr>
          <a:xfrm>
            <a:off x="8227467" y="2520900"/>
            <a:ext cx="300423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7"/>
                </a:solidFill>
                <a:latin typeface="IBM Plex Sans" pitchFamily="34" charset="0"/>
                <a:ea typeface="IBM Plex Sans" pitchFamily="34" charset="-122"/>
                <a:cs typeface="IBM Plex Sans" pitchFamily="34" charset="-120"/>
              </a:rPr>
              <a:t>Every app extends the same template. A fix reaches all apps on their next bump.</a:t>
            </a:r>
            <a:endParaRPr lang="en-US" sz="1300" dirty="0"/>
          </a:p>
        </p:txBody>
      </p:sp>
      <p:sp>
        <p:nvSpPr>
          <p:cNvPr id="15" name="Shape 10"/>
          <p:cNvSpPr/>
          <p:nvPr/>
        </p:nvSpPr>
        <p:spPr>
          <a:xfrm>
            <a:off x="815975" y="3655616"/>
            <a:ext cx="3380284" cy="1857970"/>
          </a:xfrm>
          <a:prstGeom prst="roundRect">
            <a:avLst>
              <a:gd name="adj" fmla="val 5297"/>
            </a:avLst>
          </a:prstGeom>
          <a:solidFill>
            <a:srgbClr val="FCFCFA"/>
          </a:solidFill>
          <a:ln w="6350">
            <a:solidFill>
              <a:srgbClr val="D9DCD6"/>
            </a:solidFill>
            <a:prstDash val="solid"/>
          </a:ln>
        </p:spPr>
      </p:sp>
      <p:pic>
        <p:nvPicPr>
          <p:cNvPr id="16" name="Image 3" descr="Trust">    </p:cNvPr>
          <p:cNvPicPr>
            <a:picLocks noChangeAspect="1"/>
          </p:cNvPicPr>
          <p:nvPr/>
        </p:nvPicPr>
        <p:blipFill>
          <a:blip r:embed="rId4"/>
          <a:srcRect l="0" r="0" t="0" b="0"/>
          <a:stretch/>
        </p:blipFill>
        <p:spPr>
          <a:xfrm>
            <a:off x="1047750" y="3887391"/>
            <a:ext cx="304800" cy="304800"/>
          </a:xfrm>
          <a:prstGeom prst="rect">
            <a:avLst/>
          </a:prstGeom>
        </p:spPr>
      </p:pic>
      <p:sp>
        <p:nvSpPr>
          <p:cNvPr id="17" name="Text 11"/>
          <p:cNvSpPr/>
          <p:nvPr/>
        </p:nvSpPr>
        <p:spPr>
          <a:xfrm>
            <a:off x="1047750" y="4268391"/>
            <a:ext cx="30042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Governance by default</a:t>
            </a:r>
            <a:endParaRPr lang="en-US" sz="1600" dirty="0"/>
          </a:p>
        </p:txBody>
      </p:sp>
      <p:sp>
        <p:nvSpPr>
          <p:cNvPr id="18" name="Text 12"/>
          <p:cNvSpPr/>
          <p:nvPr/>
        </p:nvSpPr>
        <p:spPr>
          <a:xfrm>
            <a:off x="1047750" y="4588421"/>
            <a:ext cx="300423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7"/>
                </a:solidFill>
                <a:latin typeface="IBM Plex Sans" pitchFamily="34" charset="0"/>
                <a:ea typeface="IBM Plex Sans" pitchFamily="34" charset="-122"/>
                <a:cs typeface="IBM Plex Sans" pitchFamily="34" charset="-120"/>
              </a:rPr>
              <a:t>Naming, mandatory tags and input validation live in code, not in a wiki.</a:t>
            </a:r>
            <a:endParaRPr lang="en-US" sz="1300" dirty="0"/>
          </a:p>
        </p:txBody>
      </p:sp>
      <p:sp>
        <p:nvSpPr>
          <p:cNvPr id="19" name="Shape 13"/>
          <p:cNvSpPr/>
          <p:nvPr/>
        </p:nvSpPr>
        <p:spPr>
          <a:xfrm>
            <a:off x="4405809" y="3655616"/>
            <a:ext cx="3380333" cy="1857970"/>
          </a:xfrm>
          <a:prstGeom prst="roundRect">
            <a:avLst>
              <a:gd name="adj" fmla="val 5297"/>
            </a:avLst>
          </a:prstGeom>
          <a:solidFill>
            <a:srgbClr val="FCFCFA"/>
          </a:solidFill>
          <a:ln w="6350">
            <a:solidFill>
              <a:srgbClr val="D9DCD6"/>
            </a:solidFill>
            <a:prstDash val="solid"/>
          </a:ln>
        </p:spPr>
      </p:sp>
      <p:pic>
        <p:nvPicPr>
          <p:cNvPr id="20" name="Image 4" descr="Key">    </p:cNvPr>
          <p:cNvPicPr>
            <a:picLocks noChangeAspect="1"/>
          </p:cNvPicPr>
          <p:nvPr/>
        </p:nvPicPr>
        <p:blipFill>
          <a:blip r:embed="rId5"/>
          <a:srcRect l="0" r="0" t="0" b="0"/>
          <a:stretch/>
        </p:blipFill>
        <p:spPr>
          <a:xfrm>
            <a:off x="4637584" y="3887391"/>
            <a:ext cx="304800" cy="304800"/>
          </a:xfrm>
          <a:prstGeom prst="rect">
            <a:avLst/>
          </a:prstGeom>
        </p:spPr>
      </p:pic>
      <p:sp>
        <p:nvSpPr>
          <p:cNvPr id="21" name="Text 14"/>
          <p:cNvSpPr/>
          <p:nvPr/>
        </p:nvSpPr>
        <p:spPr>
          <a:xfrm>
            <a:off x="4637584" y="4268391"/>
            <a:ext cx="300428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No stored secrets</a:t>
            </a:r>
            <a:endParaRPr lang="en-US" sz="1600" dirty="0"/>
          </a:p>
        </p:txBody>
      </p:sp>
      <p:sp>
        <p:nvSpPr>
          <p:cNvPr id="22" name="Text 15"/>
          <p:cNvSpPr/>
          <p:nvPr/>
        </p:nvSpPr>
        <p:spPr>
          <a:xfrm>
            <a:off x="4637584" y="4588421"/>
            <a:ext cx="300428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7"/>
                </a:solidFill>
                <a:latin typeface="IBM Plex Sans" pitchFamily="34" charset="0"/>
                <a:ea typeface="IBM Plex Sans" pitchFamily="34" charset="-122"/>
                <a:cs typeface="IBM Plex Sans" pitchFamily="34" charset="-120"/>
              </a:rPr>
              <a:t>Workload identity federation (OIDC). No client secrets or storage keys.</a:t>
            </a:r>
            <a:endParaRPr lang="en-US" sz="1300" dirty="0"/>
          </a:p>
        </p:txBody>
      </p:sp>
      <p:sp>
        <p:nvSpPr>
          <p:cNvPr id="23" name="Shape 16"/>
          <p:cNvSpPr/>
          <p:nvPr/>
        </p:nvSpPr>
        <p:spPr>
          <a:xfrm>
            <a:off x="7995692" y="3655616"/>
            <a:ext cx="3380284" cy="1857970"/>
          </a:xfrm>
          <a:prstGeom prst="roundRect">
            <a:avLst>
              <a:gd name="adj" fmla="val 5297"/>
            </a:avLst>
          </a:prstGeom>
          <a:solidFill>
            <a:srgbClr val="FCFCFA"/>
          </a:solidFill>
          <a:ln w="6350">
            <a:solidFill>
              <a:srgbClr val="D9DCD6"/>
            </a:solidFill>
            <a:prstDash val="solid"/>
          </a:ln>
        </p:spPr>
      </p:sp>
      <p:pic>
        <p:nvPicPr>
          <p:cNvPr id="24" name="Image 5" descr="Database">    </p:cNvPr>
          <p:cNvPicPr>
            <a:picLocks noChangeAspect="1"/>
          </p:cNvPicPr>
          <p:nvPr/>
        </p:nvPicPr>
        <p:blipFill>
          <a:blip r:embed="rId6"/>
          <a:srcRect l="0" r="0" t="0" b="0"/>
          <a:stretch/>
        </p:blipFill>
        <p:spPr>
          <a:xfrm>
            <a:off x="8227467" y="3887391"/>
            <a:ext cx="304800" cy="304800"/>
          </a:xfrm>
          <a:prstGeom prst="rect">
            <a:avLst/>
          </a:prstGeom>
        </p:spPr>
      </p:pic>
      <p:sp>
        <p:nvSpPr>
          <p:cNvPr id="25" name="Text 17"/>
          <p:cNvSpPr/>
          <p:nvPr/>
        </p:nvSpPr>
        <p:spPr>
          <a:xfrm>
            <a:off x="8227467" y="4268391"/>
            <a:ext cx="30042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12F"/>
                </a:solidFill>
                <a:latin typeface="IBM Plex Sans" pitchFamily="34" charset="0"/>
                <a:ea typeface="IBM Plex Sans" pitchFamily="34" charset="-122"/>
                <a:cs typeface="IBM Plex Sans" pitchFamily="34" charset="-120"/>
              </a:rPr>
              <a:t>Isolated state</a:t>
            </a:r>
            <a:endParaRPr lang="en-US" sz="1600" dirty="0"/>
          </a:p>
        </p:txBody>
      </p:sp>
      <p:sp>
        <p:nvSpPr>
          <p:cNvPr id="26" name="Text 18"/>
          <p:cNvSpPr/>
          <p:nvPr/>
        </p:nvSpPr>
        <p:spPr>
          <a:xfrm>
            <a:off x="8227467" y="4588421"/>
            <a:ext cx="300423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7"/>
                </a:solidFill>
                <a:latin typeface="IBM Plex Sans" pitchFamily="34" charset="0"/>
                <a:ea typeface="IBM Plex Sans" pitchFamily="34" charset="-122"/>
                <a:cs typeface="IBM Plex Sans" pitchFamily="34" charset="-120"/>
              </a:rPr>
              <a:t>One state key per app per environment. A bad apply can't touch a neighbour.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12F"/>
                </a:solidFill>
                <a:latin typeface="IBM Plex Sans" pitchFamily="34" charset="0"/>
                <a:ea typeface="IBM Plex Sans" pitchFamily="34" charset="-122"/>
                <a:cs typeface="IBM Plex Sans" pitchFamily="34" charset="-120"/>
              </a:rPr>
              <a:t>What it costs, and how we mitigate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515245"/>
        </p:xfrm>
        <a:graphic>
          <a:graphicData uri="http://schemas.openxmlformats.org/drawingml/2006/table">
            <a:tbl>
              <a:tblPr/>
              <a:tblGrid>
                <a:gridCol w="4010406"/>
                <a:gridCol w="6543294"/>
              </a:tblGrid>
              <a:tr h="359321">
                <a:tc>
                  <a:txBody>
                    <a:bodyPr/>
                    <a:lstStyle/>
                    <a:p>
                      <a:pPr indent="0" marL="0">
                        <a:lnSpc>
                          <a:spcPts val="1820"/>
                        </a:lnSpc>
                        <a:buNone/>
                      </a:pPr>
                      <a:r>
                        <a:rPr lang="en-US" sz="1300" b="1" dirty="0">
                          <a:solidFill>
                            <a:srgbClr val="F2A46B"/>
                          </a:solidFill>
                          <a:latin typeface="IBM Plex Sans" pitchFamily="34" charset="0"/>
                          <a:ea typeface="IBM Plex Sans" pitchFamily="34" charset="-122"/>
                          <a:cs typeface="IBM Plex Sans" pitchFamily="34" charset="-120"/>
                        </a:rPr>
                        <a:t>Risk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31E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1E29"/>
                      </a:solidFill>
                      <a:prstDash val="solid"/>
                      <a:round/>
                      <a:headEnd type="none" w="med" len="med"/>
                      <a:tailEnd type="none" w="med" len="med"/>
                    </a:lnB>
                    <a:solidFill>
                      <a:srgbClr val="13212F"/>
                    </a:solidFill>
                  </a:tcPr>
                </a:tc>
                <a:tc>
                  <a:txBody>
                    <a:bodyPr/>
                    <a:lstStyle/>
                    <a:p>
                      <a:pPr indent="0" marL="0">
                        <a:lnSpc>
                          <a:spcPts val="1820"/>
                        </a:lnSpc>
                        <a:buNone/>
                      </a:pPr>
                      <a:r>
                        <a:rPr lang="en-US" sz="1300" b="1" dirty="0">
                          <a:solidFill>
                            <a:srgbClr val="8DB4F2"/>
                          </a:solidFill>
                          <a:latin typeface="IBM Plex Sans" pitchFamily="34" charset="0"/>
                          <a:ea typeface="IBM Plex Sans" pitchFamily="34" charset="-122"/>
                          <a:cs typeface="IBM Plex Sans" pitchFamily="34" charset="-120"/>
                        </a:rPr>
                        <a:t>Mitigation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1E29"/>
                      </a:solidFill>
                      <a:prstDash val="solid"/>
                      <a:round/>
                      <a:headEnd type="none" w="med" len="med"/>
                      <a:tailEnd type="none" w="med" len="med"/>
                    </a:lnL>
                    <a:lnR w="12700" cap="flat" cmpd="sng" algn="ctr">
                      <a:solidFill>
                        <a:srgbClr val="131E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1E29"/>
                      </a:solidFill>
                      <a:prstDash val="solid"/>
                      <a:round/>
                      <a:headEnd type="none" w="med" len="med"/>
                      <a:tailEnd type="none" w="med" len="med"/>
                    </a:lnB>
                    <a:solidFill>
                      <a:srgbClr val="13212F"/>
                    </a:solidFill>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Version sprawl: apps stay on old tags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1E2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Float on v1 for non-breaking; support the last 2 majors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1E2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IaC release gated on an app repo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Mocked tests are the contract; smoke plan non-blocking at 2+ apps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Two repos to debug across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Build tag shows IaC version; plan and outputs kept as artifacts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Release tags can be moved or deleted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Only Build Service may create tags; deny force-push on 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Plan files hold secrets in clear text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Restrict artifact download; short retention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Breaking change reaches floating apps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820"/>
                        </a:lnSpc>
                        <a:buNone/>
                      </a:pPr>
                      <a:r>
                        <a:rPr lang="en-US" sz="1300" dirty="0">
                          <a:solidFill>
                            <a:srgbClr val="13212F"/>
                          </a:solidFill>
                          <a:latin typeface="IBM Plex Sans" pitchFamily="34" charset="0"/>
                          <a:ea typeface="IBM Plex Sans" pitchFamily="34" charset="-122"/>
                          <a:cs typeface="IBM Plex Sans" pitchFamily="34" charset="-120"/>
                        </a:rPr>
                        <a:t>Strict semver: breaking means new major; changelog per release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12F"/>
                </a:solidFill>
                <a:latin typeface="IBM Plex Sans" pitchFamily="34" charset="0"/>
                <a:ea typeface="IBM Plex Sans" pitchFamily="34" charset="-122"/>
                <a:cs typeface="IBM Plex Sans" pitchFamily="34" charset="-120"/>
              </a:rPr>
              <a:t>Alternatives we considered</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1876723"/>
        </p:xfrm>
        <a:graphic>
          <a:graphicData uri="http://schemas.openxmlformats.org/drawingml/2006/table">
            <a:tbl>
              <a:tblPr/>
              <a:tblGrid>
                <a:gridCol w="3377184"/>
                <a:gridCol w="3588258"/>
                <a:gridCol w="3588258"/>
              </a:tblGrid>
              <a:tr h="332680">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31E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1E29"/>
                      </a:solidFill>
                      <a:prstDash val="solid"/>
                      <a:round/>
                      <a:headEnd type="none" w="med" len="med"/>
                      <a:tailEnd type="none" w="med" len="med"/>
                    </a:lnB>
                    <a:solidFill>
                      <a:srgbClr val="13212F"/>
                    </a:solidFill>
                  </a:tcPr>
                </a:tc>
                <a:tc>
                  <a:txBody>
                    <a:bodyPr/>
                    <a:lstStyle/>
                    <a:p>
                      <a:pPr indent="0" marL="0">
                        <a:lnSpc>
                          <a:spcPts val="1680"/>
                        </a:lnSpc>
                        <a:buNone/>
                      </a:pPr>
                      <a:r>
                        <a:rPr lang="en-US" sz="1200" b="1" dirty="0">
                          <a:solidFill>
                            <a:srgbClr val="8DB4F2"/>
                          </a:solidFill>
                          <a:latin typeface="IBM Plex Sans" pitchFamily="34" charset="0"/>
                          <a:ea typeface="IBM Plex Sans" pitchFamily="34" charset="-122"/>
                          <a:cs typeface="IBM Plex Sans" pitchFamily="34" charset="-120"/>
                        </a:rPr>
                        <a:t>Strength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1E29"/>
                      </a:solidFill>
                      <a:prstDash val="solid"/>
                      <a:round/>
                      <a:headEnd type="none" w="med" len="med"/>
                      <a:tailEnd type="none" w="med" len="med"/>
                    </a:lnL>
                    <a:lnR w="12700" cap="flat" cmpd="sng" algn="ctr">
                      <a:solidFill>
                        <a:srgbClr val="131E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1E29"/>
                      </a:solidFill>
                      <a:prstDash val="solid"/>
                      <a:round/>
                      <a:headEnd type="none" w="med" len="med"/>
                      <a:tailEnd type="none" w="med" len="med"/>
                    </a:lnB>
                    <a:solidFill>
                      <a:srgbClr val="13212F"/>
                    </a:solidFill>
                  </a:tcPr>
                </a:tc>
                <a:tc>
                  <a:txBody>
                    <a:bodyPr/>
                    <a:lstStyle/>
                    <a:p>
                      <a:pPr indent="0" marL="0">
                        <a:lnSpc>
                          <a:spcPts val="1680"/>
                        </a:lnSpc>
                        <a:buNone/>
                      </a:pPr>
                      <a:r>
                        <a:rPr lang="en-US" sz="1200" b="1" dirty="0">
                          <a:solidFill>
                            <a:srgbClr val="F2A46B"/>
                          </a:solidFill>
                          <a:latin typeface="IBM Plex Sans" pitchFamily="34" charset="0"/>
                          <a:ea typeface="IBM Plex Sans" pitchFamily="34" charset="-122"/>
                          <a:cs typeface="IBM Plex Sans" pitchFamily="34" charset="-120"/>
                        </a:rPr>
                        <a:t>Weakness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1E29"/>
                      </a:solidFill>
                      <a:prstDash val="solid"/>
                      <a:round/>
                      <a:headEnd type="none" w="med" len="med"/>
                      <a:tailEnd type="none" w="med" len="med"/>
                    </a:lnL>
                    <a:lnR w="12700" cap="flat" cmpd="sng" algn="ctr">
                      <a:solidFill>
                        <a:srgbClr val="131E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1E29"/>
                      </a:solidFill>
                      <a:prstDash val="solid"/>
                      <a:round/>
                      <a:headEnd type="none" w="med" len="med"/>
                      <a:tailEnd type="none" w="med" len="med"/>
                    </a:lnB>
                    <a:solidFill>
                      <a:srgbClr val="13212F"/>
                    </a:solidFill>
                  </a:tcPr>
                </a:tc>
              </a:tr>
              <a:tr h="546001">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Proposed: module + pipeline template at a tag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5BCC7"/>
                      </a:solidFill>
                      <a:prstDash val="solid"/>
                      <a:round/>
                      <a:headEnd type="none" w="med" len="med"/>
                      <a:tailEnd type="none" w="med" len="med"/>
                    </a:lnR>
                    <a:lnT w="12700" cap="flat" cmpd="sng" algn="ctr">
                      <a:solidFill>
                        <a:srgbClr val="131E29"/>
                      </a:solidFill>
                      <a:prstDash val="solid"/>
                      <a:round/>
                      <a:headEnd type="none" w="med" len="med"/>
                      <a:tailEnd type="none" w="med" len="med"/>
                    </a:lnT>
                    <a:lnB w="12700" cap="flat" cmpd="sng" algn="ctr">
                      <a:solidFill>
                        <a:srgbClr val="B5BCC7"/>
                      </a:solidFill>
                      <a:prstDash val="solid"/>
                      <a:round/>
                      <a:headEnd type="none" w="med" len="med"/>
                      <a:tailEnd type="none" w="med" len="med"/>
                    </a:lnB>
                    <a:solidFill>
                      <a:srgbClr val="E3ECFA"/>
                    </a:solidFill>
                  </a:tcPr>
                </a:tc>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Code and pipeline versioned together; one deploy 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7"/>
                      </a:solidFill>
                      <a:prstDash val="solid"/>
                      <a:round/>
                      <a:headEnd type="none" w="med" len="med"/>
                      <a:tailEnd type="none" w="med" len="med"/>
                    </a:lnL>
                    <a:lnR w="12700" cap="flat" cmpd="sng" algn="ctr">
                      <a:solidFill>
                        <a:srgbClr val="B5BCC7"/>
                      </a:solidFill>
                      <a:prstDash val="solid"/>
                      <a:round/>
                      <a:headEnd type="none" w="med" len="med"/>
                      <a:tailEnd type="none" w="med" len="med"/>
                    </a:lnR>
                    <a:lnT w="12700" cap="flat" cmpd="sng" algn="ctr">
                      <a:solidFill>
                        <a:srgbClr val="131E29"/>
                      </a:solidFill>
                      <a:prstDash val="solid"/>
                      <a:round/>
                      <a:headEnd type="none" w="med" len="med"/>
                      <a:tailEnd type="none" w="med" len="med"/>
                    </a:lnT>
                    <a:lnB w="12700" cap="flat" cmpd="sng" algn="ctr">
                      <a:solidFill>
                        <a:srgbClr val="B5BCC7"/>
                      </a:solidFill>
                      <a:prstDash val="solid"/>
                      <a:round/>
                      <a:headEnd type="none" w="med" len="med"/>
                      <a:tailEnd type="none" w="med" len="med"/>
                    </a:lnB>
                    <a:solidFill>
                      <a:srgbClr val="E3ECFA"/>
                    </a:solidFill>
                  </a:tcPr>
                </a:tc>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Two repos; template changes need care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7"/>
                      </a:solidFill>
                      <a:prstDash val="solid"/>
                      <a:round/>
                      <a:headEnd type="none" w="med" len="med"/>
                      <a:tailEnd type="none" w="med" len="med"/>
                    </a:lnL>
                    <a:lnR w="12700" cap="flat" cmpd="sng" algn="ctr">
                      <a:solidFill>
                        <a:srgbClr val="B5BCC7"/>
                      </a:solidFill>
                      <a:prstDash val="solid"/>
                      <a:round/>
                      <a:headEnd type="none" w="med" len="med"/>
                      <a:tailEnd type="none" w="med" len="med"/>
                    </a:lnR>
                    <a:lnT w="12700" cap="flat" cmpd="sng" algn="ctr">
                      <a:solidFill>
                        <a:srgbClr val="131E29"/>
                      </a:solidFill>
                      <a:prstDash val="solid"/>
                      <a:round/>
                      <a:headEnd type="none" w="med" len="med"/>
                      <a:tailEnd type="none" w="med" len="med"/>
                    </a:lnT>
                    <a:lnB w="12700" cap="flat" cmpd="sng" algn="ctr">
                      <a:solidFill>
                        <a:srgbClr val="B5BCC7"/>
                      </a:solidFill>
                      <a:prstDash val="solid"/>
                      <a:round/>
                      <a:headEnd type="none" w="med" len="med"/>
                      <a:tailEnd type="none" w="med" len="med"/>
                    </a:lnB>
                    <a:solidFill>
                      <a:srgbClr val="E3ECFA"/>
                    </a:solidFill>
                  </a:tcPr>
                </a:tc>
              </a:tr>
              <a:tr h="332680">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Git module source only (?ref=v1.2.0)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C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Familiar; apps own their root module and pipeline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C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Every app rebuilds pipeline, auth and state setup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C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Private registry (HCP Terraform)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Native version constraints and discovery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Extra platform and licence; pipeline still per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CB6"/>
                      </a:solidFill>
                      <a:prstDash val="solid"/>
                      <a:round/>
                      <a:headEnd type="none" w="med" len="med"/>
                      <a:tailEnd type="none" w="med" len="med"/>
                    </a:lnL>
                    <a:lnR w="12700" cap="flat" cmpd="sng" algn="ctr">
                      <a:solidFill>
                        <a:srgbClr val="BCBCB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CB6"/>
                      </a:solidFill>
                      <a:prstDash val="solid"/>
                      <a:round/>
                      <a:headEnd type="none" w="med" len="med"/>
                      <a:tailEnd type="none" w="med" len="med"/>
                    </a:lnB>
                    <a:solidFill>
                      <a:srgbClr val="ECEBE4"/>
                    </a:solidFill>
                  </a:tcPr>
                </a:tc>
              </a:tr>
              <a:tr h="332680">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Infra copied into each app repo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Simplest to start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3212F"/>
                          </a:solidFill>
                          <a:latin typeface="IBM Plex Sans" pitchFamily="34" charset="0"/>
                          <a:ea typeface="IBM Plex Sans" pitchFamily="34" charset="-122"/>
                          <a:cs typeface="IBM Plex Sans" pitchFamily="34" charset="-120"/>
                        </a:rPr>
                        <a:t>Drift and copy-paste; no central fixes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CB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12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4F8DEB"/>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DB4F2"/>
                </a:solidFill>
                <a:latin typeface="IBM Plex Sans" pitchFamily="34" charset="0"/>
                <a:ea typeface="IBM Plex Sans" pitchFamily="34" charset="-122"/>
                <a:cs typeface="IBM Plex Sans" pitchFamily="34" charset="-120"/>
              </a:rPr>
              <a:t>DECISION NEEDED</a:t>
            </a:r>
            <a:endParaRPr lang="en-US" sz="1200" dirty="0"/>
          </a:p>
        </p:txBody>
      </p:sp>
      <p:sp>
        <p:nvSpPr>
          <p:cNvPr id="4" name="Text 2"/>
          <p:cNvSpPr/>
          <p:nvPr>
            <p:ph type="title"/>
          </p:nvPr>
        </p:nvSpPr>
        <p:spPr>
          <a:xfrm>
            <a:off x="812800" y="1178520"/>
            <a:ext cx="9810750"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4EF"/>
                </a:solidFill>
                <a:latin typeface="IBM Plex Sans" pitchFamily="34" charset="0"/>
                <a:ea typeface="IBM Plex Sans" pitchFamily="34" charset="-122"/>
                <a:cs typeface="IBM Plex Sans" pitchFamily="34" charset="-120"/>
              </a:rPr>
              <a:t>Adopt tag-based IaC releases, starting with one pilot app.</a:t>
            </a:r>
            <a:endParaRPr lang="en-US" sz="3200" dirty="0"/>
          </a:p>
        </p:txBody>
      </p:sp>
      <p:sp>
        <p:nvSpPr>
          <p:cNvPr id="5" name="Shape 3"/>
          <p:cNvSpPr/>
          <p:nvPr/>
        </p:nvSpPr>
        <p:spPr>
          <a:xfrm>
            <a:off x="812800" y="4695329"/>
            <a:ext cx="5283200" cy="0"/>
          </a:xfrm>
          <a:prstGeom prst="line">
            <a:avLst/>
          </a:prstGeom>
          <a:noFill/>
          <a:ln w="12700">
            <a:solidFill>
              <a:srgbClr val="3A4B5C"/>
            </a:solidFill>
            <a:prstDash val="solid"/>
          </a:ln>
        </p:spPr>
      </p:sp>
      <p:sp>
        <p:nvSpPr>
          <p:cNvPr id="6" name="Text 4"/>
          <p:cNvSpPr/>
          <p:nvPr/>
        </p:nvSpPr>
        <p:spPr>
          <a:xfrm>
            <a:off x="812800" y="4854079"/>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46B"/>
                </a:solidFill>
                <a:latin typeface="JetBrains Mono" pitchFamily="49" charset="0"/>
                <a:ea typeface="JetBrains Mono" pitchFamily="49" charset="-122"/>
                <a:cs typeface="JetBrains Mono" pitchFamily="49" charset="-120"/>
              </a:rPr>
              <a:t>01</a:t>
            </a:r>
            <a:endParaRPr lang="en-US" sz="1200" dirty="0"/>
          </a:p>
        </p:txBody>
      </p:sp>
      <p:sp>
        <p:nvSpPr>
          <p:cNvPr id="7" name="Text 5"/>
          <p:cNvSpPr/>
          <p:nvPr/>
        </p:nvSpPr>
        <p:spPr>
          <a:xfrm>
            <a:off x="812800" y="5118199"/>
            <a:ext cx="54416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9EE"/>
                </a:solidFill>
                <a:latin typeface="IBM Plex Sans" pitchFamily="34" charset="0"/>
                <a:ea typeface="IBM Plex Sans" pitchFamily="34" charset="-122"/>
                <a:cs typeface="IBM Plex Sans" pitchFamily="34" charset="-120"/>
              </a:rPr>
              <a:t>Agree versioning policy: exact pin or floating major</a:t>
            </a:r>
            <a:endParaRPr lang="en-US" sz="1400" dirty="0"/>
          </a:p>
        </p:txBody>
      </p:sp>
      <p:sp>
        <p:nvSpPr>
          <p:cNvPr id="8" name="Shape 6"/>
          <p:cNvSpPr/>
          <p:nvPr/>
        </p:nvSpPr>
        <p:spPr>
          <a:xfrm>
            <a:off x="6096000" y="4695329"/>
            <a:ext cx="5283200" cy="0"/>
          </a:xfrm>
          <a:prstGeom prst="line">
            <a:avLst/>
          </a:prstGeom>
          <a:noFill/>
          <a:ln w="12700">
            <a:solidFill>
              <a:srgbClr val="3A4B5C"/>
            </a:solidFill>
            <a:prstDash val="solid"/>
          </a:ln>
        </p:spPr>
      </p:sp>
      <p:sp>
        <p:nvSpPr>
          <p:cNvPr id="9" name="Text 7"/>
          <p:cNvSpPr/>
          <p:nvPr/>
        </p:nvSpPr>
        <p:spPr>
          <a:xfrm>
            <a:off x="6096000" y="4854079"/>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46B"/>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6096000" y="5118199"/>
            <a:ext cx="54416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9EE"/>
                </a:solidFill>
                <a:latin typeface="IBM Plex Sans" pitchFamily="34" charset="0"/>
                <a:ea typeface="IBM Plex Sans" pitchFamily="34" charset="-122"/>
                <a:cs typeface="IBM Plex Sans" pitchFamily="34" charset="-120"/>
              </a:rPr>
              <a:t>Create workload identity service connections per env</a:t>
            </a:r>
            <a:endParaRPr lang="en-US" sz="1400" dirty="0"/>
          </a:p>
        </p:txBody>
      </p:sp>
      <p:sp>
        <p:nvSpPr>
          <p:cNvPr id="11" name="Shape 9"/>
          <p:cNvSpPr/>
          <p:nvPr/>
        </p:nvSpPr>
        <p:spPr>
          <a:xfrm>
            <a:off x="812800" y="5373439"/>
            <a:ext cx="5283200" cy="0"/>
          </a:xfrm>
          <a:prstGeom prst="line">
            <a:avLst/>
          </a:prstGeom>
          <a:noFill/>
          <a:ln w="12700">
            <a:solidFill>
              <a:srgbClr val="3A4B5C"/>
            </a:solidFill>
            <a:prstDash val="solid"/>
          </a:ln>
        </p:spPr>
      </p:sp>
      <p:sp>
        <p:nvSpPr>
          <p:cNvPr id="12" name="Text 10"/>
          <p:cNvSpPr/>
          <p:nvPr/>
        </p:nvSpPr>
        <p:spPr>
          <a:xfrm>
            <a:off x="812800" y="5532189"/>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46B"/>
                </a:solidFill>
                <a:latin typeface="JetBrains Mono" pitchFamily="49" charset="0"/>
                <a:ea typeface="JetBrains Mono" pitchFamily="49" charset="-122"/>
                <a:cs typeface="JetBrains Mono" pitchFamily="49" charset="-120"/>
              </a:rPr>
              <a:t>03</a:t>
            </a:r>
            <a:endParaRPr lang="en-US" sz="1200" dirty="0"/>
          </a:p>
        </p:txBody>
      </p:sp>
      <p:sp>
        <p:nvSpPr>
          <p:cNvPr id="13" name="Text 11"/>
          <p:cNvSpPr/>
          <p:nvPr/>
        </p:nvSpPr>
        <p:spPr>
          <a:xfrm>
            <a:off x="812800" y="5796310"/>
            <a:ext cx="54416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9EE"/>
                </a:solidFill>
                <a:latin typeface="IBM Plex Sans" pitchFamily="34" charset="0"/>
                <a:ea typeface="IBM Plex Sans" pitchFamily="34" charset="-122"/>
                <a:cs typeface="IBM Plex Sans" pitchFamily="34" charset="-120"/>
              </a:rPr>
              <a:t>Lock down tag permissions on the IaC repo</a:t>
            </a:r>
            <a:endParaRPr lang="en-US" sz="1400" dirty="0"/>
          </a:p>
        </p:txBody>
      </p:sp>
      <p:sp>
        <p:nvSpPr>
          <p:cNvPr id="14" name="Shape 12"/>
          <p:cNvSpPr/>
          <p:nvPr/>
        </p:nvSpPr>
        <p:spPr>
          <a:xfrm>
            <a:off x="6096000" y="5373439"/>
            <a:ext cx="5283200" cy="0"/>
          </a:xfrm>
          <a:prstGeom prst="line">
            <a:avLst/>
          </a:prstGeom>
          <a:noFill/>
          <a:ln w="12700">
            <a:solidFill>
              <a:srgbClr val="3A4B5C"/>
            </a:solidFill>
            <a:prstDash val="solid"/>
          </a:ln>
        </p:spPr>
      </p:sp>
      <p:sp>
        <p:nvSpPr>
          <p:cNvPr id="15" name="Text 13"/>
          <p:cNvSpPr/>
          <p:nvPr/>
        </p:nvSpPr>
        <p:spPr>
          <a:xfrm>
            <a:off x="6096000" y="5532189"/>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46B"/>
                </a:solidFill>
                <a:latin typeface="JetBrains Mono" pitchFamily="49" charset="0"/>
                <a:ea typeface="JetBrains Mono" pitchFamily="49" charset="-122"/>
                <a:cs typeface="JetBrains Mono" pitchFamily="49" charset="-120"/>
              </a:rPr>
              <a:t>04</a:t>
            </a:r>
            <a:endParaRPr lang="en-US" sz="1200" dirty="0"/>
          </a:p>
        </p:txBody>
      </p:sp>
      <p:sp>
        <p:nvSpPr>
          <p:cNvPr id="16" name="Text 14"/>
          <p:cNvSpPr/>
          <p:nvPr/>
        </p:nvSpPr>
        <p:spPr>
          <a:xfrm>
            <a:off x="6096000" y="5796310"/>
            <a:ext cx="54416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9EE"/>
                </a:solidFill>
                <a:latin typeface="IBM Plex Sans" pitchFamily="34" charset="0"/>
                <a:ea typeface="IBM Plex Sans" pitchFamily="34" charset="-122"/>
                <a:cs typeface="IBM Plex Sans" pitchFamily="34" charset="-120"/>
              </a:rPr>
              <a:t>Pilot with Platform.Demo.App, review after two releases</a:t>
            </a:r>
            <a:endParaRPr lang="en-US" sz="1400" dirty="0"/>
          </a:p>
        </p:txBody>
      </p:sp>
    </p:spTree>
  </p:cSld>
  <p:clrMapOvr>
    <a:masterClrMapping/>
  </p:clrMapOvr>
</p:sld>
</file>

<file path=ppt/theme/theme1.xml><?xml version="1.0" encoding="utf-8"?>
<a:theme xmlns:a="http://schemas.openxmlformats.org/drawingml/2006/main" name="Versioned IaC Delivery Model">
  <a:themeElements>
    <a:clrScheme name="Versioned IaC Delivery Model">
      <a:dk1>
        <a:srgbClr val="13212F"/>
      </a:dk1>
      <a:lt1>
        <a:srgbClr val="F5F4EF"/>
      </a:lt1>
      <a:dk2>
        <a:srgbClr val="4C565F"/>
      </a:dk2>
      <a:lt2>
        <a:srgbClr val="DEDFDC"/>
      </a:lt2>
      <a:accent1>
        <a:srgbClr val="2563C9"/>
      </a:accent1>
      <a:accent2>
        <a:srgbClr val="C2571A"/>
      </a:accent2>
      <a:accent3>
        <a:srgbClr val="F2A46B"/>
      </a:accent3>
      <a:accent4>
        <a:srgbClr val="8DB4F2"/>
      </a:accent4>
      <a:accent5>
        <a:srgbClr val="4F8DEB"/>
      </a:accent5>
      <a:accent6>
        <a:srgbClr val="3E4A57"/>
      </a:accent6>
      <a:hlink>
        <a:srgbClr val="0563C1"/>
      </a:hlink>
      <a:folHlink>
        <a:srgbClr val="954F72"/>
      </a:folHlink>
    </a:clrScheme>
    <a:fontScheme name="Versioned IaC Delivery Mode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Versioned IaC Delivery Model</dc:title>
  <dc:subject/>
  <dc:creator/>
  <cp:lastModifiedBy/>
  <cp:revision>1</cp:revision>
  <dcterms:created xsi:type="dcterms:W3CDTF">2026-10-04T20:08:24Z</dcterms:created>
  <dcterms:modified xsi:type="dcterms:W3CDTF">2026-10-04T20:08:24Z</dcterms:modified>
</cp:coreProperties>
</file>